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Иллюстрация на титульном слайде сгенерирована OpenAI Image Generation; не является внешним источником.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Coffman, Garey, Johnson. Approximation Algorithms for Bin Packing (survey): https://www.labri.fr/perso/eyraud/pmwiki/uploads/Main/BinPackingSurvey.pdf
- Verma et al. Large-scale cluster management at Google with Borg: https://research.google.com/pubs/archive/43438.pdf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Coffman, Garey, Johnson. Approximation Algorithms for Bin Packing (survey): https://www.labri.fr/perso/eyraud/pmwiki/uploads/Main/BinPackingSurvey.pdf
- Survey of server consolidation techniques in virtualized data centers: https://www.researchgate.net/publication/279757302_Server_Consolidation_Techniques_in_Virtualized_Data_Centers_A_Survey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График сгенерирован по авторской симуляции; внешний источник не использовался.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Все графики на слайде получены в авторской симуляции; внешний источник не использовался.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Verma et al. Large-scale cluster management at Google with Borg: https://research.google.com/pubs/archive/43438.pdf
- Coffman, Garey, Johnson. Approximation Algorithms for Bin Packing (survey): https://www.labri.fr/perso/eyraud/pmwiki/uploads/Main/BinPackingSurvey.pdf
- Barroso, Hölzle, Ranganathan. The Datacenter as a Computer: https://web.eecs.umich.edu/~mosharaf/Readings/DC-Computer.pdf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presentation/d/1YZyT1SCBMqVWy1I0q_z7zFIaafvYMJIYjEswgph9ai8/edit?usp=sharing" TargetMode="External"/><Relationship Id="rId2" Type="http://schemas.openxmlformats.org/officeDocument/2006/relationships/hyperlink" Target="https://scholar.google.com/" TargetMode="External"/><Relationship Id="rId3" Type="http://schemas.openxmlformats.org/officeDocument/2006/relationships/hyperlink" Target="https://openreview.net/" TargetMode="External"/><Relationship Id="rId4" Type="http://schemas.openxmlformats.org/officeDocument/2006/relationships/hyperlink" Target="https://research.google.com/pubs/archive/43438.pdf" TargetMode="External"/><Relationship Id="rId5" Type="http://schemas.openxmlformats.org/officeDocument/2006/relationships/hyperlink" Target="https://www.labri.fr/perso/eyraud/pmwiki/uploads/Main/BinPackingSurvey.pdf" TargetMode="External"/><Relationship Id="rId6" Type="http://schemas.openxmlformats.org/officeDocument/2006/relationships/hyperlink" Target="https://web.eecs.umich.edu/~mosharaf/Readings/DC-Computer.pdf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isometric_digital_illustration_on_the_r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94460"/>
            <a:ext cx="3840480" cy="2560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261872"/>
            <a:ext cx="3977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Оптимизация загрузки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серверов в облаке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576072" y="239572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Прогноз спроса + консолидация размещения + контроль SLO</a:t>
            </a:r>
            <a:endParaRPr lang="en-US" sz="1160" dirty="0"/>
          </a:p>
        </p:txBody>
      </p:sp>
      <p:sp>
        <p:nvSpPr>
          <p:cNvPr id="5" name="Shape 2"/>
          <p:cNvSpPr/>
          <p:nvPr/>
        </p:nvSpPr>
        <p:spPr>
          <a:xfrm>
            <a:off x="576072" y="2834640"/>
            <a:ext cx="1353312" cy="0"/>
          </a:xfrm>
          <a:prstGeom prst="line">
            <a:avLst/>
          </a:prstGeom>
          <a:noFill/>
          <a:ln w="21590">
            <a:solidFill>
              <a:srgbClr val="2F6F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" y="29992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Команда: [вставьте название и состав]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Демо-проект по методам оптимизации</a:t>
            </a:r>
            <a:endParaRPr lang="en-US" sz="1060" dirty="0"/>
          </a:p>
        </p:txBody>
      </p:sp>
      <p:sp>
        <p:nvSpPr>
          <p:cNvPr id="7" name="Text 4"/>
          <p:cNvSpPr/>
          <p:nvPr/>
        </p:nvSpPr>
        <p:spPr>
          <a:xfrm>
            <a:off x="8503920" y="47365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383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Постановка задачи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10896" y="768096"/>
            <a:ext cx="1417320" cy="36576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7632" y="8595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 чём · Зачем · Гипотеза · Приложение · Как измеряем качество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438912" y="1078992"/>
            <a:ext cx="4407408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 чём: </a:t>
            </a:r>
            <a:pPr indent="0" marL="0">
              <a:buNone/>
            </a:pPr>
            <a:r>
              <a:rPr lang="en-US" sz="125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динамическое распределение облачных нагрузок по серверам при нестационарном спросе.
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Зачем: </a:t>
            </a:r>
            <a:pPr indent="0" marL="0">
              <a:buNone/>
            </a:pPr>
            <a:r>
              <a:rPr lang="en-US" sz="125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снизить число активных хостов, энергопотребление и стоимость аренды без деградации сервиса.
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Гипотеза: </a:t>
            </a:r>
            <a:pPr indent="0" marL="0">
              <a:buNone/>
            </a:pPr>
            <a:r>
              <a:rPr lang="en-US" sz="125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если заранее прогнозировать спрос и решать packing-задачу с запасом по мощности, можно поднять среднюю загрузку серверов и сократить оверсайзинг.
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Приложение: </a:t>
            </a:r>
            <a:pPr indent="0" marL="0">
              <a:buNone/>
            </a:pPr>
            <a:r>
              <a:rPr lang="en-US" sz="125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/ VM-кластеры, batch + online сервисы, частное и публичное облако.
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Качество: </a:t>
            </a:r>
            <a:pPr indent="0" marL="0">
              <a:buNone/>
            </a:pPr>
            <a:r>
              <a:rPr lang="en-US" sz="125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util, число активных серверов, p95 latency, SLO miss, число миграций.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47488" y="1078992"/>
            <a:ext cx="365760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pic>
        <p:nvPicPr>
          <p:cNvPr id="7" name="Image 0" descr="/mnt/data/cloud_opt_assets/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656" y="1445834"/>
            <a:ext cx="1874520" cy="8756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69480" y="1335024"/>
            <a:ext cx="116128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60920" y="1426464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42632" y="1719072"/>
            <a:ext cx="1014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средняя загрузка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оптимизации</a:t>
            </a:r>
            <a:endParaRPr lang="en-US" sz="770" dirty="0"/>
          </a:p>
        </p:txBody>
      </p:sp>
      <p:sp>
        <p:nvSpPr>
          <p:cNvPr id="11" name="Shape 8"/>
          <p:cNvSpPr/>
          <p:nvPr/>
        </p:nvSpPr>
        <p:spPr>
          <a:xfrm>
            <a:off x="7269480" y="2231136"/>
            <a:ext cx="116128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60920" y="2322576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42632" y="2615184"/>
            <a:ext cx="1014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резерв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headroom</a:t>
            </a:r>
            <a:endParaRPr lang="en-US" sz="770" dirty="0"/>
          </a:p>
        </p:txBody>
      </p:sp>
      <p:sp>
        <p:nvSpPr>
          <p:cNvPr id="14" name="Shape 11"/>
          <p:cNvSpPr/>
          <p:nvPr/>
        </p:nvSpPr>
        <p:spPr>
          <a:xfrm>
            <a:off x="7269480" y="3127248"/>
            <a:ext cx="116128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321868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42632" y="3511296"/>
            <a:ext cx="10149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ожидаемое снижение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инфраструктурных затрат</a:t>
            </a:r>
            <a:endParaRPr lang="en-US" sz="770" dirty="0"/>
          </a:p>
        </p:txBody>
      </p:sp>
      <p:sp>
        <p:nvSpPr>
          <p:cNvPr id="17" name="Text 14"/>
          <p:cNvSpPr/>
          <p:nvPr/>
        </p:nvSpPr>
        <p:spPr>
          <a:xfrm>
            <a:off x="5248656" y="2615184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Типичная проблема: днём нужен запас под пик, ночью половина пула простаивает. Поэтому задача формулируется как оптимизация размещения с ограничениями по CPU, RAM и отказоустойчивости.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503920" y="47365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383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Математическая модель и метрики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10896" y="768096"/>
            <a:ext cx="1417320" cy="36576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7632" y="8595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Целевая функция · Ограничения · KPI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438912" y="1097280"/>
            <a:ext cx="4343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Переменные: </a:t>
            </a:r>
            <a:pPr indent="0" marL="0">
              <a:buNone/>
            </a:pPr>
            <a:r>
              <a:rPr lang="en-US" sz="12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x_{i,j,t}=1, если workload i размещён на сервере j в момент t; y_{j,t}=1, если сервер активен.
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Ограничения: </a:t>
            </a:r>
            <a:pPr indent="0" marL="0">
              <a:buNone/>
            </a:pPr>
            <a:r>
              <a:rPr lang="en-US" sz="12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ёмкость по CPU/RAM, headroom 10–15%, anti-affinity, лимит на миграции за интервал.
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Цель: </a:t>
            </a:r>
            <a:pPr indent="0" marL="0">
              <a:buNone/>
            </a:pPr>
            <a:r>
              <a:rPr lang="en-US" sz="12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минимизировать стоимость активных хостов и штрафы за нарушение SLO и лишние миграции.
</a:t>
            </a:r>
            <a:endParaRPr lang="en-US" sz="1220" dirty="0"/>
          </a:p>
          <a:p>
            <a:pPr marL="177800" indent="-177800">
              <a:buSzPct val="100000"/>
              <a:buChar char="•"/>
            </a:pPr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это трудно: </a:t>
            </a:r>
            <a:pPr indent="0" marL="0">
              <a:buNone/>
            </a:pPr>
            <a:r>
              <a:rPr lang="en-US" sz="12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задача эквивалентна многомерному bin packing / scheduling и в общем случае NP-трудна.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5010912" y="1097280"/>
            <a:ext cx="3712464" cy="1874520"/>
          </a:xfrm>
          <a:prstGeom prst="roundRect">
            <a:avLst>
              <a:gd name="adj" fmla="val 2439"/>
            </a:avLst>
          </a:prstGeom>
          <a:solidFill>
            <a:srgbClr val="EAF2FF"/>
          </a:solidFill>
          <a:ln w="12700">
            <a:solidFill>
              <a:srgbClr val="D7DDE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5232" y="1344168"/>
            <a:ext cx="3108960" cy="34747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5232" y="1828800"/>
            <a:ext cx="2880360" cy="29260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85232" y="2212848"/>
            <a:ext cx="2468880" cy="29260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065776" y="3246120"/>
            <a:ext cx="107899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157216" y="333756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138928" y="3630168"/>
            <a:ext cx="9326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CPU util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</a:t>
            </a:r>
            <a:endParaRPr lang="en-US" sz="770" dirty="0"/>
          </a:p>
        </p:txBody>
      </p:sp>
      <p:sp>
        <p:nvSpPr>
          <p:cNvPr id="13" name="Shape 8"/>
          <p:cNvSpPr/>
          <p:nvPr/>
        </p:nvSpPr>
        <p:spPr>
          <a:xfrm>
            <a:off x="6291072" y="3246120"/>
            <a:ext cx="107899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382512" y="333756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0.9%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64224" y="3630168"/>
            <a:ext cx="9326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miss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</a:t>
            </a:r>
            <a:endParaRPr lang="en-US" sz="770" dirty="0"/>
          </a:p>
        </p:txBody>
      </p:sp>
      <p:sp>
        <p:nvSpPr>
          <p:cNvPr id="16" name="Shape 11"/>
          <p:cNvSpPr/>
          <p:nvPr/>
        </p:nvSpPr>
        <p:spPr>
          <a:xfrm>
            <a:off x="7516368" y="3246120"/>
            <a:ext cx="107899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607808" y="333756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31/ч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589520" y="3630168"/>
            <a:ext cx="9326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миграций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 лимитом</a:t>
            </a:r>
            <a:endParaRPr lang="en-US" sz="770" dirty="0"/>
          </a:p>
        </p:txBody>
      </p:sp>
      <p:sp>
        <p:nvSpPr>
          <p:cNvPr id="19" name="Text 14"/>
          <p:cNvSpPr/>
          <p:nvPr/>
        </p:nvSpPr>
        <p:spPr>
          <a:xfrm>
            <a:off x="5084064" y="41148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Ключевая идея: не гнаться за 100% утилизацией. Рабочая зона — около 55–70%, чтобы оставался запас под всплески и отказ отдельного узла.</a:t>
            </a:r>
            <a:endParaRPr lang="en-US" sz="940" dirty="0"/>
          </a:p>
        </p:txBody>
      </p:sp>
      <p:sp>
        <p:nvSpPr>
          <p:cNvPr id="20" name="Text 15"/>
          <p:cNvSpPr/>
          <p:nvPr/>
        </p:nvSpPr>
        <p:spPr>
          <a:xfrm>
            <a:off x="8503920" y="47365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383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Описание методов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10896" y="768096"/>
            <a:ext cx="1417320" cy="36576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7632" y="8595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Основные идеи · Сложность · Ключевые особенности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2642616" y="2167128"/>
            <a:ext cx="100584" cy="0"/>
          </a:xfrm>
          <a:prstGeom prst="line">
            <a:avLst/>
          </a:prstGeom>
          <a:noFill/>
          <a:ln w="15240">
            <a:solidFill>
              <a:srgbClr val="D7DDE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020056" y="2167128"/>
            <a:ext cx="100584" cy="0"/>
          </a:xfrm>
          <a:prstGeom prst="line">
            <a:avLst/>
          </a:prstGeom>
          <a:noFill/>
          <a:ln w="15240">
            <a:solidFill>
              <a:srgbClr val="D7DDE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1426464"/>
            <a:ext cx="2148840" cy="1481328"/>
          </a:xfrm>
          <a:prstGeom prst="roundRect">
            <a:avLst>
              <a:gd name="adj" fmla="val 2469"/>
            </a:avLst>
          </a:prstGeom>
          <a:solidFill>
            <a:srgbClr val="F6F9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8191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Прогноз спроса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5216" y="1901952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EWMA / сезонная медиана на горизонт 30–60 мин.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Сложность: O(T).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2816352" y="1426464"/>
            <a:ext cx="2148840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158191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Тёплый старт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944368" y="1901952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FFD-консолидация по CPU+RAM даёт быструю допустимую раскладку.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Сложность: O(n log n).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193792" y="1426464"/>
            <a:ext cx="2148840" cy="1481328"/>
          </a:xfrm>
          <a:prstGeom prst="roundRect">
            <a:avLst>
              <a:gd name="adj" fmla="val 2469"/>
            </a:avLst>
          </a:prstGeom>
          <a:solidFill>
            <a:srgbClr val="F6F9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158191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Уточнение решения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321808" y="1901952"/>
            <a:ext cx="1874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MILP или локальный поиск минимизируют число активных хостов и штраф за миграции.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Сложность: worst-case exponential.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475488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Практические особенности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475488" y="3602736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headroom 10–15% на каждый хост;
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 pool 3–5% хостов для резких пиков;
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миграционный бюджет, чтобы не раскачивать кластер;
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отдельные правила для stateful и latency-critical сервисов.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85232" y="3291840"/>
            <a:ext cx="3310128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34381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гибрид лучше чистой эвристики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5449824" y="3703320"/>
            <a:ext cx="2798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Эвристика быстро находит допустимое решение, а небольшой точный solve дорабатывает только «узкое» подмножество хостов. Это даёт хорошее время отклика без взрыва вычислений.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03920" y="47365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383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 и алгоритм оптимизации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10896" y="768096"/>
            <a:ext cx="1417320" cy="36576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7632" y="8595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Поток данных · Оркестрация · Псевдокод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1965960" y="1837944"/>
            <a:ext cx="146304" cy="0"/>
          </a:xfrm>
          <a:prstGeom prst="line">
            <a:avLst/>
          </a:prstGeom>
          <a:noFill/>
          <a:ln w="15240">
            <a:solidFill>
              <a:srgbClr val="2F6FD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02736" y="1837944"/>
            <a:ext cx="146304" cy="0"/>
          </a:xfrm>
          <a:prstGeom prst="line">
            <a:avLst/>
          </a:prstGeom>
          <a:noFill/>
          <a:ln w="15240">
            <a:solidFill>
              <a:srgbClr val="2F6FD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394960" y="1837944"/>
            <a:ext cx="146304" cy="0"/>
          </a:xfrm>
          <a:prstGeom prst="line">
            <a:avLst/>
          </a:prstGeom>
          <a:noFill/>
          <a:ln w="15240">
            <a:solidFill>
              <a:srgbClr val="2F6FD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31736" y="1837944"/>
            <a:ext cx="146304" cy="0"/>
          </a:xfrm>
          <a:prstGeom prst="line">
            <a:avLst/>
          </a:prstGeom>
          <a:noFill/>
          <a:ln w="15240">
            <a:solidFill>
              <a:srgbClr val="2F6FD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18704" y="2221992"/>
            <a:ext cx="-6693408" cy="685800"/>
          </a:xfrm>
          <a:prstGeom prst="line">
            <a:avLst/>
          </a:prstGeom>
          <a:noFill/>
          <a:ln w="15240">
            <a:solidFill>
              <a:srgbClr val="D7DD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1078992" y="2798064"/>
            <a:ext cx="201168" cy="201168"/>
          </a:xfrm>
          <a:prstGeom prst="chevron">
            <a:avLst/>
          </a:prstGeom>
          <a:solidFill>
            <a:srgbClr val="D7DDE4"/>
          </a:solidFill>
          <a:ln w="12700">
            <a:solidFill>
              <a:srgbClr val="D7DDE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508760"/>
            <a:ext cx="1417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4592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Мониторинг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CPU/RAM/latency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148840" y="1508760"/>
            <a:ext cx="1417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31136" y="164592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Прогноз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нагрузки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785616" y="1508760"/>
            <a:ext cx="1572768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164592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Оптимизатор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FFD + MILP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577840" y="1508760"/>
            <a:ext cx="1417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0136" y="164592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Оркестратор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VM/Pod placement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214616" y="1508760"/>
            <a:ext cx="14173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6912" y="164592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Кластер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серверов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3895344" y="2770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i="1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loop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76656" y="3273552"/>
            <a:ext cx="4370832" cy="960120"/>
          </a:xfrm>
          <a:prstGeom prst="roundRect">
            <a:avLst>
              <a:gd name="adj" fmla="val 3810"/>
            </a:avLst>
          </a:prstGeom>
          <a:solidFill>
            <a:srgbClr val="FBFCFE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43814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each window 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d_hat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forecast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first_fit_decreasing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workloads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d_hat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refine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headroom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mig_budget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SLO_risk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threshold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add_warm_hosts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321808" y="3218688"/>
            <a:ext cx="3218688" cy="1024128"/>
          </a:xfrm>
          <a:prstGeom prst="roundRect">
            <a:avLst>
              <a:gd name="adj" fmla="val 3571"/>
            </a:avLst>
          </a:prstGeom>
          <a:solidFill>
            <a:srgbClr val="EAF2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33741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Практический режим запуска</a:t>
            </a:r>
            <a:endParaRPr lang="en-US" sz="1110" dirty="0"/>
          </a:p>
        </p:txBody>
      </p:sp>
      <p:sp>
        <p:nvSpPr>
          <p:cNvPr id="26" name="Text 24"/>
          <p:cNvSpPr/>
          <p:nvPr/>
        </p:nvSpPr>
        <p:spPr>
          <a:xfrm>
            <a:off x="5504688" y="36393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каждые 5–15 мин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solve horizon 30–60 мин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точный solve только для top-K перегруженных зон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8503920" y="47365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383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Экспериментальная постановка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10896" y="768096"/>
            <a:ext cx="1417320" cy="36576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7632" y="8595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Сценарий · Базовые методы · Данные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438912" y="1115568"/>
            <a:ext cx="2514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Сценарий: </a:t>
            </a:r>
            <a:pPr indent="0" marL="0">
              <a:buNone/>
            </a:pPr>
            <a:r>
              <a:rPr lang="en-US" sz="116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часа, шаг 15 минут, смесь online и batch-нагрузок.
</a:t>
            </a:r>
            <a:endParaRPr lang="en-US" sz="1160" dirty="0"/>
          </a:p>
          <a:p>
            <a:pPr marL="177800" indent="-177800">
              <a:buSzPct val="100000"/>
              <a:buChar char="•"/>
            </a:pPr>
            <a:r>
              <a:rPr lang="en-US" sz="11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Кластер: </a:t>
            </a:r>
            <a:pPr indent="0" marL="0">
              <a:buNone/>
            </a:pPr>
            <a:r>
              <a:rPr lang="en-US" sz="116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 хостов, ограничения по CPU и RAM, запас headroom 15%.
</a:t>
            </a:r>
            <a:endParaRPr lang="en-US" sz="1160" dirty="0"/>
          </a:p>
          <a:p>
            <a:pPr marL="177800" indent="-177800">
              <a:buSzPct val="100000"/>
              <a:buChar char="•"/>
            </a:pPr>
            <a:r>
              <a:rPr lang="en-US" sz="11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Сравнение: </a:t>
            </a:r>
            <a:pPr indent="0" marL="0">
              <a:buNone/>
            </a:pPr>
            <a:r>
              <a:rPr lang="en-US" sz="116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пороговый autoscaling, FFD-консолидация, hybrid Forecast+MILP.
</a:t>
            </a:r>
            <a:endParaRPr lang="en-US" sz="1160" dirty="0"/>
          </a:p>
          <a:p>
            <a:pPr marL="177800" indent="-177800">
              <a:buSzPct val="100000"/>
              <a:buChar char="•"/>
            </a:pPr>
            <a:r>
              <a:rPr lang="en-US" sz="116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Данные: </a:t>
            </a:r>
            <a:pPr indent="0" marL="0">
              <a:buNone/>
            </a:pPr>
            <a:r>
              <a:rPr lang="en-US" sz="116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синтетическая нагрузка с суточной сезонностью и короткими всплесками.</a:t>
            </a:r>
            <a:endParaRPr lang="en-US" sz="1160" dirty="0"/>
          </a:p>
        </p:txBody>
      </p:sp>
      <p:sp>
        <p:nvSpPr>
          <p:cNvPr id="6" name="Shape 4"/>
          <p:cNvSpPr/>
          <p:nvPr/>
        </p:nvSpPr>
        <p:spPr>
          <a:xfrm>
            <a:off x="512064" y="3675888"/>
            <a:ext cx="80467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376732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" y="4059936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интервалов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15 мин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1408176" y="3675888"/>
            <a:ext cx="80467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376732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1328" y="4059936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хостов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пуле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304288" y="3675888"/>
            <a:ext cx="80467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5728" y="376732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4059936"/>
            <a:ext cx="6583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сравнения</a:t>
            </a:r>
            <a:endParaRPr lang="en-US" sz="770" dirty="0"/>
          </a:p>
        </p:txBody>
      </p:sp>
      <p:pic>
        <p:nvPicPr>
          <p:cNvPr id="15" name="Image 0" descr="/mnt/data/cloud_opt_assets/timeseries_serv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937045"/>
            <a:ext cx="5230368" cy="185005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503920" y="47365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383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Результаты: загрузка и компромисс cost/SLO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10896" y="768096"/>
            <a:ext cx="1417320" cy="36576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7632" y="8595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Графики · Изображения · Теоретические сравнения</a:t>
            </a:r>
            <a:endParaRPr lang="en-US" sz="820" dirty="0"/>
          </a:p>
        </p:txBody>
      </p:sp>
      <p:pic>
        <p:nvPicPr>
          <p:cNvPr id="5" name="Image 0" descr="/mnt/data/cloud_opt_assets/util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52580"/>
            <a:ext cx="5074920" cy="1880655"/>
          </a:xfrm>
          <a:prstGeom prst="rect">
            <a:avLst/>
          </a:prstGeom>
        </p:spPr>
      </p:pic>
      <p:pic>
        <p:nvPicPr>
          <p:cNvPr id="6" name="Image 1" descr="/mnt/data/cloud_opt_assets/pare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307786"/>
            <a:ext cx="2971800" cy="205701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559552" y="3639312"/>
            <a:ext cx="30175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05856" y="377647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 по графикам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5705856" y="40050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средняя загрузка: 32% → 62%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активные хосты: 142 → 104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SLO miss: 2.8% → 0.9%</a:t>
            </a:r>
            <a:endParaRPr lang="en-US" sz="920" dirty="0"/>
          </a:p>
        </p:txBody>
      </p:sp>
      <p:sp>
        <p:nvSpPr>
          <p:cNvPr id="10" name="Text 6"/>
          <p:cNvSpPr/>
          <p:nvPr/>
        </p:nvSpPr>
        <p:spPr>
          <a:xfrm>
            <a:off x="8503920" y="47365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383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Результаты: таблица сравнения методов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10896" y="768096"/>
            <a:ext cx="1417320" cy="36576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7632" y="8595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Таблицы · Численные метрики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438912" y="1234440"/>
            <a:ext cx="2148840" cy="429768"/>
          </a:xfrm>
          <a:prstGeom prst="rect">
            <a:avLst/>
          </a:prstGeom>
          <a:solidFill>
            <a:srgbClr val="EAF2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25880"/>
            <a:ext cx="2075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587752" y="1234440"/>
            <a:ext cx="868680" cy="429768"/>
          </a:xfrm>
          <a:prstGeom prst="rect">
            <a:avLst/>
          </a:prstGeom>
          <a:solidFill>
            <a:srgbClr val="EAF2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4328" y="1325880"/>
            <a:ext cx="79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Средняя CPU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загрузка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3456432" y="1234440"/>
            <a:ext cx="749808" cy="429768"/>
          </a:xfrm>
          <a:prstGeom prst="rect">
            <a:avLst/>
          </a:prstGeom>
          <a:solidFill>
            <a:srgbClr val="EAF2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325880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Активные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хосты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206240" y="1234440"/>
            <a:ext cx="868680" cy="429768"/>
          </a:xfrm>
          <a:prstGeom prst="rect">
            <a:avLst/>
          </a:prstGeom>
          <a:solidFill>
            <a:srgbClr val="EAF2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42816" y="1325880"/>
            <a:ext cx="79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latency,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мс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074920" y="1234440"/>
            <a:ext cx="685800" cy="429768"/>
          </a:xfrm>
          <a:prstGeom prst="rect">
            <a:avLst/>
          </a:prstGeom>
          <a:solidFill>
            <a:srgbClr val="EAF2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1496" y="1325880"/>
            <a:ext cx="612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miss,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760720" y="1234440"/>
            <a:ext cx="731520" cy="429768"/>
          </a:xfrm>
          <a:prstGeom prst="rect">
            <a:avLst/>
          </a:prstGeom>
          <a:solidFill>
            <a:srgbClr val="EAF2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97296" y="13258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Отн.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стоимость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38912" y="1664208"/>
            <a:ext cx="2148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17830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Пороговый autoscaling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587752" y="1664208"/>
            <a:ext cx="8686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1783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41%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456432" y="1664208"/>
            <a:ext cx="7498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178308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142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206240" y="1664208"/>
            <a:ext cx="8686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17830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185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074920" y="1664208"/>
            <a:ext cx="685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17830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760720" y="1664208"/>
            <a:ext cx="731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17830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38912" y="2093976"/>
            <a:ext cx="2148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22128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FFD-консолидация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2587752" y="2093976"/>
            <a:ext cx="8686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22128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54%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3456432" y="2093976"/>
            <a:ext cx="749808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02152" y="22128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118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206240" y="2093976"/>
            <a:ext cx="8686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960" y="22128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176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074920" y="2093976"/>
            <a:ext cx="685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22128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1.9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760720" y="2093976"/>
            <a:ext cx="7315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22128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438912" y="2523744"/>
            <a:ext cx="2148840" cy="429768"/>
          </a:xfrm>
          <a:prstGeom prst="rect">
            <a:avLst/>
          </a:prstGeom>
          <a:solidFill>
            <a:srgbClr val="F7FAFF"/>
          </a:solidFill>
          <a:ln w="13970">
            <a:solidFill>
              <a:srgbClr val="D7DD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264261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Forecast+MILP (наш)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2587752" y="2523744"/>
            <a:ext cx="868680" cy="429768"/>
          </a:xfrm>
          <a:prstGeom prst="rect">
            <a:avLst/>
          </a:prstGeom>
          <a:solidFill>
            <a:srgbClr val="F7FAFF"/>
          </a:solidFill>
          <a:ln w="13970">
            <a:solidFill>
              <a:srgbClr val="D7DD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33472" y="26426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3456432" y="2523744"/>
            <a:ext cx="749808" cy="429768"/>
          </a:xfrm>
          <a:prstGeom prst="rect">
            <a:avLst/>
          </a:prstGeom>
          <a:solidFill>
            <a:srgbClr val="F7FAFF"/>
          </a:solidFill>
          <a:ln w="13970">
            <a:solidFill>
              <a:srgbClr val="D7DD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02152" y="26426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4206240" y="2523744"/>
            <a:ext cx="868680" cy="429768"/>
          </a:xfrm>
          <a:prstGeom prst="rect">
            <a:avLst/>
          </a:prstGeom>
          <a:solidFill>
            <a:srgbClr val="F7FAFF"/>
          </a:solidFill>
          <a:ln w="13970">
            <a:solidFill>
              <a:srgbClr val="D7DD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51960" y="264261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162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5074920" y="2523744"/>
            <a:ext cx="685800" cy="429768"/>
          </a:xfrm>
          <a:prstGeom prst="rect">
            <a:avLst/>
          </a:prstGeom>
          <a:solidFill>
            <a:srgbClr val="F7FAFF"/>
          </a:solidFill>
          <a:ln w="13970">
            <a:solidFill>
              <a:srgbClr val="D7DD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264261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5760720" y="2523744"/>
            <a:ext cx="731520" cy="429768"/>
          </a:xfrm>
          <a:prstGeom prst="rect">
            <a:avLst/>
          </a:prstGeom>
          <a:solidFill>
            <a:srgbClr val="F7FAFF"/>
          </a:solidFill>
          <a:ln w="13970">
            <a:solidFill>
              <a:srgbClr val="D7DD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06440" y="26426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6601968" y="1298448"/>
            <a:ext cx="1993392" cy="1828800"/>
          </a:xfrm>
          <a:prstGeom prst="roundRect">
            <a:avLst>
              <a:gd name="adj" fmla="val 2500"/>
            </a:avLst>
          </a:prstGeom>
          <a:solidFill>
            <a:srgbClr val="FBFCFE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48272" y="14904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видно из таблицы</a:t>
            </a:r>
            <a:endParaRPr lang="en-US" sz="1120" dirty="0"/>
          </a:p>
        </p:txBody>
      </p:sp>
      <p:sp>
        <p:nvSpPr>
          <p:cNvPr id="55" name="Text 53"/>
          <p:cNvSpPr/>
          <p:nvPr/>
        </p:nvSpPr>
        <p:spPr>
          <a:xfrm>
            <a:off x="6748272" y="1773936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простое пороговое правило держит слишком большой резерв;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FFD уже даёт заметную экономию;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прогноз + ограниченный точный solve дают лучший баланс cost/SLO.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6601968" y="3401568"/>
            <a:ext cx="1993392" cy="786384"/>
          </a:xfrm>
          <a:prstGeom prst="roundRect">
            <a:avLst>
              <a:gd name="adj" fmla="val 5814"/>
            </a:avLst>
          </a:prstGeom>
          <a:solidFill>
            <a:srgbClr val="EAF2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03136" y="356616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-27% хостов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-23% стоимости</a:t>
            </a:r>
            <a:endParaRPr lang="en-US" sz="1420" dirty="0"/>
          </a:p>
        </p:txBody>
      </p:sp>
      <p:sp>
        <p:nvSpPr>
          <p:cNvPr id="58" name="Text 56"/>
          <p:cNvSpPr/>
          <p:nvPr/>
        </p:nvSpPr>
        <p:spPr>
          <a:xfrm>
            <a:off x="8503920" y="47365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383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Выводы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10896" y="768096"/>
            <a:ext cx="1417320" cy="36576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7632" y="8595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планировалось · Что получилось · Как улучшить проект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438912" y="1170432"/>
            <a:ext cx="2542032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3533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планировалось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03504" y="1682496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повысить загрузку серверов;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сократить число активных хостов;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 ухудшить p95 latency и SLO.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3291840" y="1170432"/>
            <a:ext cx="2542032" cy="2487168"/>
          </a:xfrm>
          <a:prstGeom prst="roundRect">
            <a:avLst>
              <a:gd name="adj" fmla="val 1838"/>
            </a:avLst>
          </a:prstGeom>
          <a:solidFill>
            <a:srgbClr val="F7FAFF"/>
          </a:solidFill>
          <a:ln w="14605">
            <a:solidFill>
              <a:srgbClr val="2F6F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3533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получилось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456432" y="1682496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32% → 62% по средней CPU загрузке;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142 → 104 активных хоста;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SLO miss снижен до 0.9%;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метод работает в online-режиме с solve каждые 5–15 мин.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144768" y="1170432"/>
            <a:ext cx="2542032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3533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улучшить проект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309360" y="1682496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перейти к multi-objective solve с углеродным следом;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учитывать network / storage contention;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обучить более сильный forecasting-модуль;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добавить A/B-тест на реальном кластере.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3694176" y="3840480"/>
            <a:ext cx="87782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39319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F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67328" y="4224528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 между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solve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4727448" y="3840480"/>
            <a:ext cx="87782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39319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9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4224528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отн.</a:t>
            </a:r>
            <a:endParaRPr lang="en-US" sz="770" dirty="0"/>
          </a:p>
          <a:p>
            <a:pPr algn="ctr" indent="0" marL="0">
              <a:buNone/>
            </a:pPr>
            <a:r>
              <a:rPr lang="en-US" sz="77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стоимость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8503920" y="47365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383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Формальные признаки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10896" y="768096"/>
            <a:ext cx="1417320" cy="36576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7632" y="8595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План защиты · Код · Репозиторий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532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Презентация укладывается в формат 10–15 слайдов: здесь 11 слайдов вместе со ссылками.
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Основной доклад можно уложить в 4–8 минут: по 30–45 секунд на содержательные слайды и 1 минуту на выводы.
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Код демо-проекта приложен отдельно в чате; для финальной сдачи стоит опубликовать его в GitHub с README и инструкцией запуска.
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вопросы удобно оставить 2–3 минуты: отдельно по модели, ограничениям и результатам симуляции.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236208" y="1216152"/>
            <a:ext cx="2331720" cy="1938528"/>
          </a:xfrm>
          <a:prstGeom prst="roundRect">
            <a:avLst>
              <a:gd name="adj" fmla="val 2358"/>
            </a:avLst>
          </a:prstGeom>
          <a:solidFill>
            <a:srgbClr val="FBFCFE"/>
          </a:solidFill>
          <a:ln w="12700">
            <a:solidFill>
              <a:srgbClr val="D7D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добавить перед сдачей</a:t>
            </a:r>
            <a:endParaRPr lang="en-US" sz="1110" dirty="0"/>
          </a:p>
        </p:txBody>
      </p:sp>
      <p:sp>
        <p:nvSpPr>
          <p:cNvPr id="8" name="Text 6"/>
          <p:cNvSpPr/>
          <p:nvPr/>
        </p:nvSpPr>
        <p:spPr>
          <a:xfrm>
            <a:off x="6400800" y="170992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реальные метрики из Prometheus / Grafana;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ссылку на GitHub-репозиторий;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short demo или backup-слайды по алгоритму.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8138160" cy="676656"/>
          </a:xfrm>
          <a:prstGeom prst="roundRect">
            <a:avLst>
              <a:gd name="adj" fmla="val 5405"/>
            </a:avLst>
          </a:prstGeom>
          <a:solidFill>
            <a:srgbClr val="F7FAFF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822192"/>
            <a:ext cx="7635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Важно: GitHub-ссылка в шаблоне указана как формальное требование; я не добавлял вымышленный URL. Если хотите, следующим сообщением подготовлю структуру README и имя репозитория под публикацию.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503920" y="47365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383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Основные ссылки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10896" y="768096"/>
            <a:ext cx="1417320" cy="36576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27632" y="859536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9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Шаблон · Базовые научные и инженерные источники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Шаблон презентации: </a:t>
            </a:r>
            <a:pPr indent="0" marL="0">
              <a:buNone/>
            </a:pPr>
            <a:r>
              <a:rPr lang="en-US" sz="1140" u="sng" dirty="0">
                <a:solidFill>
                  <a:srgbClr val="2F6FDB"/>
                </a:solidFill>
                <a:uFill>
                  <a:solidFill>
                    <a:srgbClr val="2F6FDB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Slides template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57200" y="159105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Scholar: </a:t>
            </a:r>
            <a:pPr indent="0" marL="0">
              <a:buNone/>
            </a:pPr>
            <a:r>
              <a:rPr lang="en-US" sz="1140" u="sng" dirty="0">
                <a:solidFill>
                  <a:srgbClr val="2F6FDB"/>
                </a:solidFill>
                <a:uFill>
                  <a:solidFill>
                    <a:srgbClr val="2F6FDB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https://scholar.google.com/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457200" y="206654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OpenReview: </a:t>
            </a:r>
            <a:pPr indent="0" marL="0">
              <a:buNone/>
            </a:pPr>
            <a:r>
              <a:rPr lang="en-US" sz="1140" u="sng" dirty="0">
                <a:solidFill>
                  <a:srgbClr val="2F6FDB"/>
                </a:solidFill>
                <a:uFill>
                  <a:solidFill>
                    <a:srgbClr val="2F6FDB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https://openreview.net/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Borg paper: </a:t>
            </a:r>
            <a:pPr indent="0" marL="0">
              <a:buNone/>
            </a:pPr>
            <a:r>
              <a:rPr lang="en-US" sz="1140" u="sng" dirty="0">
                <a:solidFill>
                  <a:srgbClr val="2F6FDB"/>
                </a:solidFill>
                <a:uFill>
                  <a:solidFill>
                    <a:srgbClr val="2F6FDB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research.google.com/pubs/archive/43438.pdf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 Packing survey: </a:t>
            </a:r>
            <a:pPr indent="0" marL="0">
              <a:buNone/>
            </a:pPr>
            <a:r>
              <a:rPr lang="en-US" sz="1140" u="sng" dirty="0">
                <a:solidFill>
                  <a:srgbClr val="2F6FDB"/>
                </a:solidFill>
                <a:uFill>
                  <a:solidFill>
                    <a:srgbClr val="2F6FDB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labri.fr/.../BinPackingSurvey.pdf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40" dirty="0">
                <a:solidFill>
                  <a:srgbClr val="1D26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Datacenter as a Computer: </a:t>
            </a:r>
            <a:pPr indent="0" marL="0">
              <a:buNone/>
            </a:pPr>
            <a:r>
              <a:rPr lang="en-US" sz="1140" u="sng" dirty="0">
                <a:solidFill>
                  <a:srgbClr val="2F6FDB"/>
                </a:solidFill>
                <a:uFill>
                  <a:solidFill>
                    <a:srgbClr val="2F6FDB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web.eecs.umich.edu/.../DC-Computer.pdf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503920" y="473659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Оптимизация загрузки серверов в облаке</dc:title>
  <dc:subject>Оптимизация загрузки серверов в облаке</dc:subject>
  <dc:creator>OpenAI</dc:creator>
  <cp:lastModifiedBy>OpenAI</cp:lastModifiedBy>
  <cp:revision>1</cp:revision>
  <dcterms:created xsi:type="dcterms:W3CDTF">2026-03-09T13:39:50Z</dcterms:created>
  <dcterms:modified xsi:type="dcterms:W3CDTF">2026-03-09T13:39:50Z</dcterms:modified>
</cp:coreProperties>
</file>