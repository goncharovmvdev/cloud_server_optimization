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00000" y="-900000"/>
            <a:ext cx="1800000" cy="1800000"/>
          </a:xfrm>
          <a:prstGeom prst="ellipse">
            <a:avLst/>
          </a:prstGeom>
          <a:solidFill>
            <a:srgbClr val="4DD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44000" y="4243500"/>
            <a:ext cx="1800000" cy="1800000"/>
          </a:xfrm>
          <a:prstGeom prst="ellipse">
            <a:avLst/>
          </a:prstGeom>
          <a:solidFill>
            <a:srgbClr val="C2A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0000" y="220000"/>
            <a:ext cx="8304000" cy="540000"/>
          </a:xfrm>
          <a:prstGeom prst="roundRect">
            <a:avLst>
              <a:gd name="adj" fmla="val 25925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600000" y="330000"/>
            <a:ext cx="320000" cy="320000"/>
          </a:xfrm>
          <a:prstGeom prst="diamond">
            <a:avLst/>
          </a:prstGeom>
          <a:solidFill>
            <a:srgbClr val="4D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000" y="220000"/>
            <a:ext cx="170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EF1FF"/>
                </a:solidFill>
                <a:latin typeface="Space Grotesk"/>
              </a:rPr>
              <a:t>ClusterScope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0000" y="220000"/>
            <a:ext cx="4604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9CA5D0"/>
                </a:solidFill>
                <a:latin typeface="JetBrains Mono"/>
              </a:rPr>
              <a:t>INTRO · CLOUD WORKLOAD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4000" y="330000"/>
            <a:ext cx="820000" cy="320000"/>
          </a:xfrm>
          <a:prstGeom prst="roundRect">
            <a:avLst>
              <a:gd name="adj" fmla="val 25000"/>
            </a:avLst>
          </a:prstGeom>
          <a:solidFill>
            <a:srgbClr val="1C244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4000" y="330000"/>
            <a:ext cx="82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4DD6FF"/>
                </a:solidFill>
                <a:latin typeface="JetBrains Mono"/>
              </a:rPr>
              <a:t>01 / 10</a:t>
            </a:r>
          </a:p>
        </p:txBody>
      </p:sp>
      <p:sp>
        <p:nvSpPr>
          <p:cNvPr id="10" name="Diamond 9"/>
          <p:cNvSpPr/>
          <p:nvPr/>
        </p:nvSpPr>
        <p:spPr>
          <a:xfrm>
            <a:off x="620000" y="1400000"/>
            <a:ext cx="900000" cy="900000"/>
          </a:xfrm>
          <a:prstGeom prst="diamond">
            <a:avLst/>
          </a:prstGeom>
          <a:solidFill>
            <a:srgbClr val="4D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iamond 10"/>
          <p:cNvSpPr/>
          <p:nvPr/>
        </p:nvSpPr>
        <p:spPr>
          <a:xfrm>
            <a:off x="760000" y="1540000"/>
            <a:ext cx="620000" cy="620000"/>
          </a:xfrm>
          <a:prstGeom prst="diamond">
            <a:avLst/>
          </a:prstGeom>
          <a:solidFill>
            <a:srgbClr val="0709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900000" y="1680000"/>
            <a:ext cx="340000" cy="340000"/>
          </a:xfrm>
          <a:prstGeom prst="diamond">
            <a:avLst/>
          </a:prstGeom>
          <a:solidFill>
            <a:srgbClr val="C2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0000" y="2500000"/>
            <a:ext cx="60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4DD6FF"/>
                </a:solidFill>
                <a:latin typeface="JetBrains Mono"/>
              </a:rPr>
              <a:t>SCHEDULER · BIN-PACKING · MILP OPTIMIZATION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000" y="2780000"/>
            <a:ext cx="7900000" cy="1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EEF1FF"/>
                </a:solidFill>
                <a:latin typeface="Space Grotesk"/>
              </a:rPr>
              <a:t>Оптимизация загрузки</a:t>
            </a:r>
          </a:p>
          <a:p>
            <a:pPr algn="l">
              <a:lnSpc>
                <a:spcPct val="105000"/>
              </a:lnSpc>
            </a:pPr>
            <a:r>
              <a:rPr sz="3600" b="1">
                <a:solidFill>
                  <a:srgbClr val="EEF1FF"/>
                </a:solidFill>
                <a:latin typeface="Space Grotesk"/>
              </a:rPr>
              <a:t>серверов в облаке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000" y="4100000"/>
            <a:ext cx="790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9CA5D0"/>
                </a:solidFill>
                <a:latin typeface="Inter"/>
              </a:rPr>
              <a:t>K8s-like scoring · bin-packing · MILP capacity planning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000" y="4500000"/>
            <a:ext cx="79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F7AA8"/>
                </a:solidFill>
                <a:latin typeface="JetBrains Mono"/>
              </a:rPr>
              <a:t>Демо-проект по методам оптимизации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00000" y="-900000"/>
            <a:ext cx="1800000" cy="1800000"/>
          </a:xfrm>
          <a:prstGeom prst="ellipse">
            <a:avLst/>
          </a:prstGeom>
          <a:solidFill>
            <a:srgbClr val="4DD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44000" y="4243500"/>
            <a:ext cx="1800000" cy="1800000"/>
          </a:xfrm>
          <a:prstGeom prst="ellipse">
            <a:avLst/>
          </a:prstGeom>
          <a:solidFill>
            <a:srgbClr val="C2A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0000" y="220000"/>
            <a:ext cx="8304000" cy="540000"/>
          </a:xfrm>
          <a:prstGeom prst="roundRect">
            <a:avLst>
              <a:gd name="adj" fmla="val 25925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600000" y="330000"/>
            <a:ext cx="320000" cy="320000"/>
          </a:xfrm>
          <a:prstGeom prst="diamond">
            <a:avLst/>
          </a:prstGeom>
          <a:solidFill>
            <a:srgbClr val="4D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000" y="220000"/>
            <a:ext cx="170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EF1FF"/>
                </a:solidFill>
                <a:latin typeface="Space Grotesk"/>
              </a:rPr>
              <a:t>ClusterScope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0000" y="220000"/>
            <a:ext cx="4604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9CA5D0"/>
                </a:solidFill>
                <a:latin typeface="JetBrains Mono"/>
              </a:rPr>
              <a:t>SECTION 01 · PROBLEM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4000" y="330000"/>
            <a:ext cx="820000" cy="320000"/>
          </a:xfrm>
          <a:prstGeom prst="roundRect">
            <a:avLst>
              <a:gd name="adj" fmla="val 25000"/>
            </a:avLst>
          </a:prstGeom>
          <a:solidFill>
            <a:srgbClr val="1C244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4000" y="330000"/>
            <a:ext cx="82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4DD6FF"/>
                </a:solidFill>
                <a:latin typeface="JetBrains Mono"/>
              </a:rPr>
              <a:t>02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000" y="960000"/>
            <a:ext cx="8304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9CA5D0"/>
                </a:solidFill>
                <a:latin typeface="JetBrains Mono"/>
              </a:rPr>
              <a:t>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000" y="1260000"/>
            <a:ext cx="8304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EEF1FF"/>
                </a:solidFill>
                <a:latin typeface="Space Grotesk"/>
              </a:rPr>
              <a:t>Постановка задачи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000" y="1860000"/>
            <a:ext cx="8304000" cy="1603500"/>
          </a:xfrm>
          <a:prstGeom prst="roundRect">
            <a:avLst>
              <a:gd name="adj" fmla="val 9978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000" y="1860000"/>
            <a:ext cx="7944000" cy="46000"/>
          </a:xfrm>
          <a:prstGeom prst="rect">
            <a:avLst/>
          </a:prstGeom>
          <a:solidFill>
            <a:srgbClr val="4D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0000" y="2040000"/>
            <a:ext cx="7784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EEF1FF"/>
                </a:solidFill>
                <a:latin typeface="Space Grotesk"/>
              </a:rPr>
              <a:t>Что и зачем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0000" y="2340000"/>
            <a:ext cx="7784000" cy="94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EEF1FF"/>
                </a:solidFill>
                <a:latin typeface="Inter"/>
              </a:rPr>
              <a:t>•  Распределение нагрузок при нестационарном спросе.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EEF1FF"/>
                </a:solidFill>
                <a:latin typeface="Inter"/>
              </a:rPr>
              <a:t>•  Меньше активных хостов и плотнее упаковка pod'ов.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EEF1FF"/>
                </a:solidFill>
                <a:latin typeface="Inter"/>
              </a:rPr>
              <a:t>•  Считаем: счётчик активных нод, миграции, score нод.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000" y="3683500"/>
            <a:ext cx="2621333" cy="1180000"/>
          </a:xfrm>
          <a:prstGeom prst="roundRect">
            <a:avLst>
              <a:gd name="adj" fmla="val 13559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0000" y="3683500"/>
            <a:ext cx="2261333" cy="46000"/>
          </a:xfrm>
          <a:prstGeom prst="rect">
            <a:avLst/>
          </a:prstGeom>
          <a:solidFill>
            <a:srgbClr val="4D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00" y="3863500"/>
            <a:ext cx="2101333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9CA5D0"/>
                </a:solidFill>
                <a:latin typeface="JetBrains Mono"/>
              </a:rPr>
              <a:t>MAX HOSTS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000" y="4143500"/>
            <a:ext cx="2101333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EF1FF"/>
                </a:solidFill>
                <a:latin typeface="Space Grotesk"/>
              </a:rPr>
              <a:t>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0000" y="4603500"/>
            <a:ext cx="2101333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A5D0"/>
                </a:solidFill>
                <a:latin typeface="Inter"/>
              </a:rPr>
              <a:t>3 пула в config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61333" y="3683500"/>
            <a:ext cx="2621333" cy="1180000"/>
          </a:xfrm>
          <a:prstGeom prst="roundRect">
            <a:avLst>
              <a:gd name="adj" fmla="val 13559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41333" y="3683500"/>
            <a:ext cx="2261333" cy="46000"/>
          </a:xfrm>
          <a:prstGeom prst="rect">
            <a:avLst/>
          </a:prstGeom>
          <a:solidFill>
            <a:srgbClr val="C2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1333" y="3863500"/>
            <a:ext cx="2101333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9CA5D0"/>
                </a:solidFill>
                <a:latin typeface="JetBrains Mono"/>
              </a:rPr>
              <a:t>PLANNERS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1333" y="4143500"/>
            <a:ext cx="2101333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EF1FF"/>
                </a:solidFill>
                <a:latin typeface="Space Grotesk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1333" y="4603500"/>
            <a:ext cx="2101333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A5D0"/>
                </a:solidFill>
                <a:latin typeface="Inter"/>
              </a:rPr>
              <a:t>bin-packing · MILP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02666" y="3683500"/>
            <a:ext cx="2621333" cy="1180000"/>
          </a:xfrm>
          <a:prstGeom prst="roundRect">
            <a:avLst>
              <a:gd name="adj" fmla="val 13559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82666" y="3683500"/>
            <a:ext cx="2261333" cy="46000"/>
          </a:xfrm>
          <a:prstGeom prst="rect">
            <a:avLst/>
          </a:prstGeom>
          <a:solidFill>
            <a:srgbClr val="A6EC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2666" y="3863500"/>
            <a:ext cx="2101333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9CA5D0"/>
                </a:solidFill>
                <a:latin typeface="JetBrains Mono"/>
              </a:rPr>
              <a:t>SCORING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666" y="4143500"/>
            <a:ext cx="2101333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EF1FF"/>
                </a:solidFill>
                <a:latin typeface="Space Grotesk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2666" y="4603500"/>
            <a:ext cx="2101333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A5D0"/>
                </a:solidFill>
                <a:latin typeface="Inter"/>
              </a:rPr>
              <a:t>LeastAlloc · ImageLoc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00000" y="-900000"/>
            <a:ext cx="1800000" cy="1800000"/>
          </a:xfrm>
          <a:prstGeom prst="ellipse">
            <a:avLst/>
          </a:prstGeom>
          <a:solidFill>
            <a:srgbClr val="4DD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44000" y="4243500"/>
            <a:ext cx="1800000" cy="1800000"/>
          </a:xfrm>
          <a:prstGeom prst="ellipse">
            <a:avLst/>
          </a:prstGeom>
          <a:solidFill>
            <a:srgbClr val="C2A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0000" y="220000"/>
            <a:ext cx="8304000" cy="540000"/>
          </a:xfrm>
          <a:prstGeom prst="roundRect">
            <a:avLst>
              <a:gd name="adj" fmla="val 25925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600000" y="330000"/>
            <a:ext cx="320000" cy="320000"/>
          </a:xfrm>
          <a:prstGeom prst="diamond">
            <a:avLst/>
          </a:prstGeom>
          <a:solidFill>
            <a:srgbClr val="4D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000" y="220000"/>
            <a:ext cx="170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EF1FF"/>
                </a:solidFill>
                <a:latin typeface="Space Grotesk"/>
              </a:rPr>
              <a:t>ClusterScope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0000" y="220000"/>
            <a:ext cx="4604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9CA5D0"/>
                </a:solidFill>
                <a:latin typeface="JetBrains Mono"/>
              </a:rPr>
              <a:t>SECTION 02 · CLUSTER ANATOMY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4000" y="330000"/>
            <a:ext cx="820000" cy="320000"/>
          </a:xfrm>
          <a:prstGeom prst="roundRect">
            <a:avLst>
              <a:gd name="adj" fmla="val 25000"/>
            </a:avLst>
          </a:prstGeom>
          <a:solidFill>
            <a:srgbClr val="1C244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4000" y="330000"/>
            <a:ext cx="82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4DD6FF"/>
                </a:solidFill>
                <a:latin typeface="JetBrains Mono"/>
              </a:rPr>
              <a:t>03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000" y="960000"/>
            <a:ext cx="8304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9CA5D0"/>
                </a:solidFill>
                <a:latin typeface="JetBrains Mono"/>
              </a:rPr>
              <a:t>DOMAIN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000" y="1260000"/>
            <a:ext cx="8304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EEF1FF"/>
                </a:solidFill>
                <a:latin typeface="Space Grotesk"/>
              </a:rPr>
              <a:t>Kubernetes-like кластер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000" y="1860000"/>
            <a:ext cx="2621333" cy="1500000"/>
          </a:xfrm>
          <a:prstGeom prst="roundRect">
            <a:avLst>
              <a:gd name="adj" fmla="val 10666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000" y="1860000"/>
            <a:ext cx="2261333" cy="46000"/>
          </a:xfrm>
          <a:prstGeom prst="rect">
            <a:avLst/>
          </a:prstGeom>
          <a:solidFill>
            <a:srgbClr val="4D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00" y="2010000"/>
            <a:ext cx="2181333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4DD6FF"/>
                </a:solidFill>
                <a:latin typeface="JetBrains Mono"/>
              </a:rPr>
              <a:t>NODE-01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00" y="2180000"/>
            <a:ext cx="2181333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CA5D0"/>
                </a:solidFill>
                <a:latin typeface="Inter"/>
              </a:rPr>
              <a:t>compute-large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00" y="2400000"/>
            <a:ext cx="2181333" cy="1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EF1FF"/>
                </a:solidFill>
                <a:latin typeface="JetBrains Mono"/>
              </a:rPr>
              <a:t>CPU   62 %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00" y="2560000"/>
            <a:ext cx="2181333" cy="56000"/>
          </a:xfrm>
          <a:prstGeom prst="roundRect">
            <a:avLst>
              <a:gd name="adj" fmla="val 35714"/>
            </a:avLst>
          </a:prstGeom>
          <a:solidFill>
            <a:srgbClr val="1C24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00" y="2560000"/>
            <a:ext cx="1352426" cy="56000"/>
          </a:xfrm>
          <a:prstGeom prst="roundRect">
            <a:avLst>
              <a:gd name="adj" fmla="val 35714"/>
            </a:avLst>
          </a:prstGeom>
          <a:solidFill>
            <a:srgbClr val="4DD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00" y="2660000"/>
            <a:ext cx="2181333" cy="1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EF1FF"/>
                </a:solidFill>
                <a:latin typeface="JetBrains Mono"/>
              </a:rPr>
              <a:t>RAM   55 %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00" y="2820000"/>
            <a:ext cx="2181333" cy="56000"/>
          </a:xfrm>
          <a:prstGeom prst="roundRect">
            <a:avLst>
              <a:gd name="adj" fmla="val 35714"/>
            </a:avLst>
          </a:prstGeom>
          <a:solidFill>
            <a:srgbClr val="1C24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00" y="2820000"/>
            <a:ext cx="1199733" cy="56000"/>
          </a:xfrm>
          <a:prstGeom prst="roundRect">
            <a:avLst>
              <a:gd name="adj" fmla="val 35714"/>
            </a:avLst>
          </a:prstGeom>
          <a:solidFill>
            <a:srgbClr val="C2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00" y="2920000"/>
            <a:ext cx="2181333" cy="1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EF1FF"/>
                </a:solidFill>
                <a:latin typeface="JetBrains Mono"/>
              </a:rPr>
              <a:t>PODS  ×3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00" y="3080000"/>
            <a:ext cx="280000" cy="150000"/>
          </a:xfrm>
          <a:prstGeom prst="roundRect">
            <a:avLst>
              <a:gd name="adj" fmla="val 30666"/>
            </a:avLst>
          </a:prstGeom>
          <a:solidFill>
            <a:srgbClr val="FF8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80000" y="3080000"/>
            <a:ext cx="280000" cy="150000"/>
          </a:xfrm>
          <a:prstGeom prst="roundRect">
            <a:avLst>
              <a:gd name="adj" fmla="val 30666"/>
            </a:avLst>
          </a:prstGeom>
          <a:solidFill>
            <a:srgbClr val="4DD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320000" y="3080000"/>
            <a:ext cx="280000" cy="150000"/>
          </a:xfrm>
          <a:prstGeom prst="roundRect">
            <a:avLst>
              <a:gd name="adj" fmla="val 30666"/>
            </a:avLst>
          </a:prstGeom>
          <a:solidFill>
            <a:srgbClr val="A6E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261333" y="1860000"/>
            <a:ext cx="2621333" cy="1500000"/>
          </a:xfrm>
          <a:prstGeom prst="roundRect">
            <a:avLst>
              <a:gd name="adj" fmla="val 10666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441333" y="1860000"/>
            <a:ext cx="2261333" cy="46000"/>
          </a:xfrm>
          <a:prstGeom prst="rect">
            <a:avLst/>
          </a:prstGeom>
          <a:solidFill>
            <a:srgbClr val="C2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81333" y="2010000"/>
            <a:ext cx="2181333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C2A6FF"/>
                </a:solidFill>
                <a:latin typeface="JetBrains Mono"/>
              </a:rPr>
              <a:t>NODE-02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81333" y="2180000"/>
            <a:ext cx="2181333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CA5D0"/>
                </a:solidFill>
                <a:latin typeface="Inter"/>
              </a:rPr>
              <a:t>compute-medium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81333" y="2400000"/>
            <a:ext cx="2181333" cy="1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EF1FF"/>
                </a:solidFill>
                <a:latin typeface="JetBrains Mono"/>
              </a:rPr>
              <a:t>CPU   45 %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81333" y="2560000"/>
            <a:ext cx="2181333" cy="56000"/>
          </a:xfrm>
          <a:prstGeom prst="roundRect">
            <a:avLst>
              <a:gd name="adj" fmla="val 35714"/>
            </a:avLst>
          </a:prstGeom>
          <a:solidFill>
            <a:srgbClr val="1C24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481333" y="2560000"/>
            <a:ext cx="981599" cy="56000"/>
          </a:xfrm>
          <a:prstGeom prst="roundRect">
            <a:avLst>
              <a:gd name="adj" fmla="val 35714"/>
            </a:avLst>
          </a:prstGeom>
          <a:solidFill>
            <a:srgbClr val="4DD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81333" y="2660000"/>
            <a:ext cx="2181333" cy="1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EF1FF"/>
                </a:solidFill>
                <a:latin typeface="JetBrains Mono"/>
              </a:rPr>
              <a:t>RAM   70 %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81333" y="2820000"/>
            <a:ext cx="2181333" cy="56000"/>
          </a:xfrm>
          <a:prstGeom prst="roundRect">
            <a:avLst>
              <a:gd name="adj" fmla="val 35714"/>
            </a:avLst>
          </a:prstGeom>
          <a:solidFill>
            <a:srgbClr val="1C24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481333" y="2820000"/>
            <a:ext cx="1526933" cy="56000"/>
          </a:xfrm>
          <a:prstGeom prst="roundRect">
            <a:avLst>
              <a:gd name="adj" fmla="val 35714"/>
            </a:avLst>
          </a:prstGeom>
          <a:solidFill>
            <a:srgbClr val="C2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81333" y="2920000"/>
            <a:ext cx="2181333" cy="1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EF1FF"/>
                </a:solidFill>
                <a:latin typeface="JetBrains Mono"/>
              </a:rPr>
              <a:t>PODS  ×2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81333" y="3080000"/>
            <a:ext cx="280000" cy="150000"/>
          </a:xfrm>
          <a:prstGeom prst="roundRect">
            <a:avLst>
              <a:gd name="adj" fmla="val 30666"/>
            </a:avLst>
          </a:prstGeom>
          <a:solidFill>
            <a:srgbClr val="4DD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821333" y="3080000"/>
            <a:ext cx="280000" cy="150000"/>
          </a:xfrm>
          <a:prstGeom prst="roundRect">
            <a:avLst>
              <a:gd name="adj" fmla="val 30666"/>
            </a:avLst>
          </a:prstGeom>
          <a:solidFill>
            <a:srgbClr val="A6E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102666" y="1860000"/>
            <a:ext cx="2621333" cy="1500000"/>
          </a:xfrm>
          <a:prstGeom prst="roundRect">
            <a:avLst>
              <a:gd name="adj" fmla="val 10666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82666" y="1860000"/>
            <a:ext cx="2261333" cy="46000"/>
          </a:xfrm>
          <a:prstGeom prst="rect">
            <a:avLst/>
          </a:prstGeom>
          <a:solidFill>
            <a:srgbClr val="FFC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22666" y="2010000"/>
            <a:ext cx="2181333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FFC873"/>
                </a:solidFill>
                <a:latin typeface="JetBrains Mono"/>
              </a:rPr>
              <a:t>NODE-03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22666" y="2180000"/>
            <a:ext cx="2181333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CA5D0"/>
                </a:solidFill>
                <a:latin typeface="Inter"/>
              </a:rPr>
              <a:t>memory-heavy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22666" y="2400000"/>
            <a:ext cx="2181333" cy="1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EF1FF"/>
                </a:solidFill>
                <a:latin typeface="JetBrains Mono"/>
              </a:rPr>
              <a:t>CPU   78 %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22666" y="2560000"/>
            <a:ext cx="2181333" cy="56000"/>
          </a:xfrm>
          <a:prstGeom prst="roundRect">
            <a:avLst>
              <a:gd name="adj" fmla="val 35714"/>
            </a:avLst>
          </a:prstGeom>
          <a:solidFill>
            <a:srgbClr val="1C24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322666" y="2560000"/>
            <a:ext cx="1701439" cy="56000"/>
          </a:xfrm>
          <a:prstGeom prst="roundRect">
            <a:avLst>
              <a:gd name="adj" fmla="val 35714"/>
            </a:avLst>
          </a:prstGeom>
          <a:solidFill>
            <a:srgbClr val="4DD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22666" y="2660000"/>
            <a:ext cx="2181333" cy="1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EF1FF"/>
                </a:solidFill>
                <a:latin typeface="JetBrains Mono"/>
              </a:rPr>
              <a:t>RAM   82 %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22666" y="2820000"/>
            <a:ext cx="2181333" cy="56000"/>
          </a:xfrm>
          <a:prstGeom prst="roundRect">
            <a:avLst>
              <a:gd name="adj" fmla="val 35714"/>
            </a:avLst>
          </a:prstGeom>
          <a:solidFill>
            <a:srgbClr val="1C24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322666" y="2820000"/>
            <a:ext cx="1788693" cy="56000"/>
          </a:xfrm>
          <a:prstGeom prst="roundRect">
            <a:avLst>
              <a:gd name="adj" fmla="val 35714"/>
            </a:avLst>
          </a:prstGeom>
          <a:solidFill>
            <a:srgbClr val="C2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22666" y="2920000"/>
            <a:ext cx="2181333" cy="1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EF1FF"/>
                </a:solidFill>
                <a:latin typeface="JetBrains Mono"/>
              </a:rPr>
              <a:t>PODS  ×3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22666" y="3080000"/>
            <a:ext cx="280000" cy="150000"/>
          </a:xfrm>
          <a:prstGeom prst="roundRect">
            <a:avLst>
              <a:gd name="adj" fmla="val 30666"/>
            </a:avLst>
          </a:prstGeom>
          <a:solidFill>
            <a:srgbClr val="A6E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662666" y="3080000"/>
            <a:ext cx="280000" cy="150000"/>
          </a:xfrm>
          <a:prstGeom prst="roundRect">
            <a:avLst>
              <a:gd name="adj" fmla="val 30666"/>
            </a:avLst>
          </a:prstGeom>
          <a:solidFill>
            <a:srgbClr val="FFC8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002666" y="3080000"/>
            <a:ext cx="280000" cy="150000"/>
          </a:xfrm>
          <a:prstGeom prst="roundRect">
            <a:avLst>
              <a:gd name="adj" fmla="val 30666"/>
            </a:avLst>
          </a:prstGeom>
          <a:solidFill>
            <a:srgbClr val="C2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20000" y="3580000"/>
            <a:ext cx="2621333" cy="1283500"/>
          </a:xfrm>
          <a:prstGeom prst="roundRect">
            <a:avLst>
              <a:gd name="adj" fmla="val 12465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00000" y="3580000"/>
            <a:ext cx="2261333" cy="46000"/>
          </a:xfrm>
          <a:prstGeom prst="rect">
            <a:avLst/>
          </a:prstGeom>
          <a:solidFill>
            <a:srgbClr val="4D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0000" y="3720000"/>
            <a:ext cx="2141333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4DD6FF"/>
                </a:solidFill>
                <a:latin typeface="JetBrains Mono"/>
              </a:rPr>
              <a:t>NODE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0000" y="3940000"/>
            <a:ext cx="2141333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EEF1FF"/>
                </a:solidFill>
                <a:latin typeface="Space Grotesk"/>
              </a:rPr>
              <a:t>Worker-машина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0000" y="4280000"/>
            <a:ext cx="2141333" cy="42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EF1FF"/>
                </a:solidFill>
                <a:latin typeface="Inter"/>
              </a:rPr>
              <a:t>Сервер с лимитом CPU/RAM,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EEF1FF"/>
                </a:solidFill>
                <a:latin typeface="Inter"/>
              </a:rPr>
              <a:t>на нём запускаются pod'ы.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261333" y="3580000"/>
            <a:ext cx="2621333" cy="1283500"/>
          </a:xfrm>
          <a:prstGeom prst="roundRect">
            <a:avLst>
              <a:gd name="adj" fmla="val 12465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441333" y="3580000"/>
            <a:ext cx="2261333" cy="46000"/>
          </a:xfrm>
          <a:prstGeom prst="rect">
            <a:avLst/>
          </a:prstGeom>
          <a:solidFill>
            <a:srgbClr val="C2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01333" y="3720000"/>
            <a:ext cx="2141333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C2A6FF"/>
                </a:solidFill>
                <a:latin typeface="JetBrains Mono"/>
              </a:rPr>
              <a:t>POD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01333" y="3940000"/>
            <a:ext cx="2141333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EEF1FF"/>
                </a:solidFill>
                <a:latin typeface="Space Grotesk"/>
              </a:rPr>
              <a:t>Минимальная единица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01333" y="4280000"/>
            <a:ext cx="2141333" cy="42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EF1FF"/>
                </a:solidFill>
                <a:latin typeface="Inter"/>
              </a:rPr>
              <a:t>Контейнер с cpu_request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EEF1FF"/>
                </a:solidFill>
                <a:latin typeface="Inter"/>
              </a:rPr>
              <a:t>и memory_request.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102666" y="3580000"/>
            <a:ext cx="2621333" cy="1283500"/>
          </a:xfrm>
          <a:prstGeom prst="roundRect">
            <a:avLst>
              <a:gd name="adj" fmla="val 12465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82666" y="3580000"/>
            <a:ext cx="2261333" cy="46000"/>
          </a:xfrm>
          <a:prstGeom prst="rect">
            <a:avLst/>
          </a:prstGeom>
          <a:solidFill>
            <a:srgbClr val="FF8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42666" y="3720000"/>
            <a:ext cx="2141333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FF8E99"/>
                </a:solidFill>
                <a:latin typeface="JetBrains Mono"/>
              </a:rPr>
              <a:t>SCHEDULER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42666" y="3940000"/>
            <a:ext cx="2141333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EEF1FF"/>
                </a:solidFill>
                <a:latin typeface="Space Grotesk"/>
              </a:rPr>
              <a:t>Распределитель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42666" y="4280000"/>
            <a:ext cx="2141333" cy="42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EF1FF"/>
                </a:solidFill>
                <a:latin typeface="Inter"/>
              </a:rPr>
              <a:t>Фильтрует ноды и выбирает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EEF1FF"/>
                </a:solidFill>
                <a:latin typeface="Inter"/>
              </a:rPr>
              <a:t>лучшую для каждого pod'а.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00000" y="-900000"/>
            <a:ext cx="1800000" cy="1800000"/>
          </a:xfrm>
          <a:prstGeom prst="ellipse">
            <a:avLst/>
          </a:prstGeom>
          <a:solidFill>
            <a:srgbClr val="4DD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44000" y="4243500"/>
            <a:ext cx="1800000" cy="1800000"/>
          </a:xfrm>
          <a:prstGeom prst="ellipse">
            <a:avLst/>
          </a:prstGeom>
          <a:solidFill>
            <a:srgbClr val="C2A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0000" y="220000"/>
            <a:ext cx="8304000" cy="540000"/>
          </a:xfrm>
          <a:prstGeom prst="roundRect">
            <a:avLst>
              <a:gd name="adj" fmla="val 25925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600000" y="330000"/>
            <a:ext cx="320000" cy="320000"/>
          </a:xfrm>
          <a:prstGeom prst="diamond">
            <a:avLst/>
          </a:prstGeom>
          <a:solidFill>
            <a:srgbClr val="4D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000" y="220000"/>
            <a:ext cx="170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EF1FF"/>
                </a:solidFill>
                <a:latin typeface="Space Grotesk"/>
              </a:rPr>
              <a:t>ClusterScope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0000" y="220000"/>
            <a:ext cx="4604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9CA5D0"/>
                </a:solidFill>
                <a:latin typeface="JetBrains Mono"/>
              </a:rPr>
              <a:t>SECTION 03 · K8S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4000" y="330000"/>
            <a:ext cx="820000" cy="320000"/>
          </a:xfrm>
          <a:prstGeom prst="roundRect">
            <a:avLst>
              <a:gd name="adj" fmla="val 25000"/>
            </a:avLst>
          </a:prstGeom>
          <a:solidFill>
            <a:srgbClr val="1C244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4000" y="330000"/>
            <a:ext cx="82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4DD6FF"/>
                </a:solidFill>
                <a:latin typeface="JetBrains Mono"/>
              </a:rPr>
              <a:t>04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000" y="960000"/>
            <a:ext cx="8304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9CA5D0"/>
                </a:solidFill>
                <a:latin typeface="JetBrains Mono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000" y="1260000"/>
            <a:ext cx="8304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EEF1FF"/>
                </a:solidFill>
                <a:latin typeface="Space Grotesk"/>
              </a:rPr>
              <a:t>Архитектура Kubernetes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000" y="1860000"/>
            <a:ext cx="8304000" cy="3003500"/>
          </a:xfrm>
          <a:prstGeom prst="roundRect">
            <a:avLst>
              <a:gd name="adj" fmla="val 5327"/>
            </a:avLst>
          </a:prstGeom>
          <a:solidFill>
            <a:srgbClr val="F5F7FC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k8s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205" y="2040000"/>
            <a:ext cx="4201589" cy="26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00000" y="-900000"/>
            <a:ext cx="1800000" cy="1800000"/>
          </a:xfrm>
          <a:prstGeom prst="ellipse">
            <a:avLst/>
          </a:prstGeom>
          <a:solidFill>
            <a:srgbClr val="4DD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44000" y="4243500"/>
            <a:ext cx="1800000" cy="1800000"/>
          </a:xfrm>
          <a:prstGeom prst="ellipse">
            <a:avLst/>
          </a:prstGeom>
          <a:solidFill>
            <a:srgbClr val="C2A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0000" y="220000"/>
            <a:ext cx="8304000" cy="540000"/>
          </a:xfrm>
          <a:prstGeom prst="roundRect">
            <a:avLst>
              <a:gd name="adj" fmla="val 25925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600000" y="330000"/>
            <a:ext cx="320000" cy="320000"/>
          </a:xfrm>
          <a:prstGeom prst="diamond">
            <a:avLst/>
          </a:prstGeom>
          <a:solidFill>
            <a:srgbClr val="4D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000" y="220000"/>
            <a:ext cx="170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EF1FF"/>
                </a:solidFill>
                <a:latin typeface="Space Grotesk"/>
              </a:rPr>
              <a:t>ClusterScope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0000" y="220000"/>
            <a:ext cx="4604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9CA5D0"/>
                </a:solidFill>
                <a:latin typeface="JetBrains Mono"/>
              </a:rPr>
              <a:t>SECTION 04 · FULL FORMULATION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4000" y="330000"/>
            <a:ext cx="820000" cy="320000"/>
          </a:xfrm>
          <a:prstGeom prst="roundRect">
            <a:avLst>
              <a:gd name="adj" fmla="val 25000"/>
            </a:avLst>
          </a:prstGeom>
          <a:solidFill>
            <a:srgbClr val="1C244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4000" y="330000"/>
            <a:ext cx="82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4DD6FF"/>
                </a:solidFill>
                <a:latin typeface="JetBrains Mono"/>
              </a:rPr>
              <a:t>05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000" y="960000"/>
            <a:ext cx="8304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9CA5D0"/>
                </a:solidFill>
                <a:latin typeface="JetBrains Mono"/>
              </a:rPr>
              <a:t>COMPLETE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000" y="1260000"/>
            <a:ext cx="8304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EEF1FF"/>
                </a:solidFill>
                <a:latin typeface="Space Grotesk"/>
              </a:rPr>
              <a:t>Полная постановка задачи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000" y="1860000"/>
            <a:ext cx="8304000" cy="3003500"/>
          </a:xfrm>
          <a:prstGeom prst="roundRect">
            <a:avLst>
              <a:gd name="adj" fmla="val 5327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000" y="1860000"/>
            <a:ext cx="7944000" cy="46000"/>
          </a:xfrm>
          <a:prstGeom prst="rect">
            <a:avLst/>
          </a:prstGeom>
          <a:solidFill>
            <a:srgbClr val="4D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000" y="1980000"/>
            <a:ext cx="800000" cy="46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4DD6FF"/>
                </a:solidFill>
                <a:latin typeface="JetBrains Mono"/>
              </a:rPr>
              <a:t>DOMAIN</a:t>
            </a:r>
          </a:p>
        </p:txBody>
      </p:sp>
      <p:pic>
        <p:nvPicPr>
          <p:cNvPr id="15" name="Picture 14" descr="full_do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7957" y="1990000"/>
            <a:ext cx="1864086" cy="4472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80000" y="1980000"/>
            <a:ext cx="2204000" cy="46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CA5D0"/>
                </a:solidFill>
                <a:latin typeface="Inter"/>
              </a:rPr>
              <a:t>P/H — pod'ы и хосты; ёмкость, стоимость, запросы.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" y="2444250"/>
            <a:ext cx="7824000" cy="3000"/>
          </a:xfrm>
          <a:prstGeom prst="rect">
            <a:avLst/>
          </a:prstGeom>
          <a:solidFill>
            <a:srgbClr val="2C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" y="2447250"/>
            <a:ext cx="800000" cy="46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C2A6FF"/>
                </a:solidFill>
                <a:latin typeface="JetBrains Mono"/>
              </a:rPr>
              <a:t>VARIABLES</a:t>
            </a:r>
          </a:p>
        </p:txBody>
      </p:sp>
      <p:pic>
        <p:nvPicPr>
          <p:cNvPr id="19" name="Picture 18" descr="full_v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7957" y="2457250"/>
            <a:ext cx="1864086" cy="4472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80000" y="2447250"/>
            <a:ext cx="2204000" cy="46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CA5D0"/>
                </a:solidFill>
                <a:latin typeface="Inter"/>
              </a:rPr>
              <a:t>x: pod i на ноде j.  y: нода j активна.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" y="2911500"/>
            <a:ext cx="7824000" cy="3000"/>
          </a:xfrm>
          <a:prstGeom prst="rect">
            <a:avLst/>
          </a:prstGeom>
          <a:solidFill>
            <a:srgbClr val="2C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" y="2914500"/>
            <a:ext cx="800000" cy="46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A6EC90"/>
                </a:solidFill>
                <a:latin typeface="JetBrains Mono"/>
              </a:rPr>
              <a:t>OBJECTIVE</a:t>
            </a:r>
          </a:p>
        </p:txBody>
      </p:sp>
      <p:pic>
        <p:nvPicPr>
          <p:cNvPr id="23" name="Picture 22" descr="full_pri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957" y="2924500"/>
            <a:ext cx="1864086" cy="44725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280000" y="2914500"/>
            <a:ext cx="2204000" cy="46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CA5D0"/>
                </a:solidFill>
                <a:latin typeface="Inter"/>
              </a:rPr>
              <a:t>Минимум стоимости активного кластера ($/ч).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" y="3378750"/>
            <a:ext cx="7824000" cy="3000"/>
          </a:xfrm>
          <a:prstGeom prst="rect">
            <a:avLst/>
          </a:prstGeom>
          <a:solidFill>
            <a:srgbClr val="2C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" y="3381750"/>
            <a:ext cx="800000" cy="46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FFC873"/>
                </a:solidFill>
                <a:latin typeface="JetBrains Mono"/>
              </a:rPr>
              <a:t>ASSIGN</a:t>
            </a:r>
          </a:p>
        </p:txBody>
      </p:sp>
      <p:pic>
        <p:nvPicPr>
          <p:cNvPr id="27" name="Picture 26" descr="full_assig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7957" y="3391750"/>
            <a:ext cx="1864086" cy="44725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280000" y="3381750"/>
            <a:ext cx="2204000" cy="46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CA5D0"/>
                </a:solidFill>
                <a:latin typeface="Inter"/>
              </a:rPr>
              <a:t>Каждый pod — ровно на одной ноде.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0000" y="3846000"/>
            <a:ext cx="7824000" cy="3000"/>
          </a:xfrm>
          <a:prstGeom prst="rect">
            <a:avLst/>
          </a:prstGeom>
          <a:solidFill>
            <a:srgbClr val="2C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0000" y="3849000"/>
            <a:ext cx="800000" cy="46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FFC873"/>
                </a:solidFill>
                <a:latin typeface="JetBrains Mono"/>
              </a:rPr>
              <a:t>CPU</a:t>
            </a:r>
          </a:p>
        </p:txBody>
      </p:sp>
      <p:pic>
        <p:nvPicPr>
          <p:cNvPr id="31" name="Picture 30" descr="full_cp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37957" y="3859000"/>
            <a:ext cx="1864086" cy="4472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280000" y="3849000"/>
            <a:ext cx="2204000" cy="46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CA5D0"/>
                </a:solidFill>
                <a:latin typeface="Inter"/>
              </a:rPr>
              <a:t>Σ CPU-запросов ≤ ёмкости активной ноды.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" y="4313250"/>
            <a:ext cx="7824000" cy="3000"/>
          </a:xfrm>
          <a:prstGeom prst="rect">
            <a:avLst/>
          </a:prstGeom>
          <a:solidFill>
            <a:srgbClr val="2C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" y="4316250"/>
            <a:ext cx="800000" cy="46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FFC873"/>
                </a:solidFill>
                <a:latin typeface="JetBrains Mono"/>
              </a:rPr>
              <a:t>RAM</a:t>
            </a:r>
          </a:p>
        </p:txBody>
      </p:sp>
      <p:pic>
        <p:nvPicPr>
          <p:cNvPr id="35" name="Picture 34" descr="full_r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37957" y="4326250"/>
            <a:ext cx="1864086" cy="4472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80000" y="4316250"/>
            <a:ext cx="2204000" cy="46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CA5D0"/>
                </a:solidFill>
                <a:latin typeface="Inter"/>
              </a:rPr>
              <a:t>То же для памяти.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00000" y="-900000"/>
            <a:ext cx="1800000" cy="1800000"/>
          </a:xfrm>
          <a:prstGeom prst="ellipse">
            <a:avLst/>
          </a:prstGeom>
          <a:solidFill>
            <a:srgbClr val="4DD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44000" y="4243500"/>
            <a:ext cx="1800000" cy="1800000"/>
          </a:xfrm>
          <a:prstGeom prst="ellipse">
            <a:avLst/>
          </a:prstGeom>
          <a:solidFill>
            <a:srgbClr val="C2A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0000" y="220000"/>
            <a:ext cx="8304000" cy="540000"/>
          </a:xfrm>
          <a:prstGeom prst="roundRect">
            <a:avLst>
              <a:gd name="adj" fmla="val 25925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600000" y="330000"/>
            <a:ext cx="320000" cy="320000"/>
          </a:xfrm>
          <a:prstGeom prst="diamond">
            <a:avLst/>
          </a:prstGeom>
          <a:solidFill>
            <a:srgbClr val="4D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000" y="220000"/>
            <a:ext cx="170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EF1FF"/>
                </a:solidFill>
                <a:latin typeface="Space Grotesk"/>
              </a:rPr>
              <a:t>ClusterScope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0000" y="220000"/>
            <a:ext cx="4604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9CA5D0"/>
                </a:solidFill>
                <a:latin typeface="JetBrains Mono"/>
              </a:rPr>
              <a:t>SECTION 05 · MILP SOLVING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4000" y="330000"/>
            <a:ext cx="820000" cy="320000"/>
          </a:xfrm>
          <a:prstGeom prst="roundRect">
            <a:avLst>
              <a:gd name="adj" fmla="val 25000"/>
            </a:avLst>
          </a:prstGeom>
          <a:solidFill>
            <a:srgbClr val="1C244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4000" y="330000"/>
            <a:ext cx="82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4DD6FF"/>
                </a:solidFill>
                <a:latin typeface="JetBrains Mono"/>
              </a:rPr>
              <a:t>06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000" y="960000"/>
            <a:ext cx="8304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9CA5D0"/>
                </a:solidFill>
                <a:latin typeface="JetBrains Mono"/>
              </a:rPr>
              <a:t>BRANCH AND BOUND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000" y="1260000"/>
            <a:ext cx="8304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EEF1FF"/>
                </a:solidFill>
                <a:latin typeface="Space Grotesk"/>
              </a:rPr>
              <a:t>Как решается MILP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000" y="1860000"/>
            <a:ext cx="8304000" cy="3003500"/>
          </a:xfrm>
          <a:prstGeom prst="roundRect">
            <a:avLst>
              <a:gd name="adj" fmla="val 5327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000" y="1860000"/>
            <a:ext cx="7944000" cy="46000"/>
          </a:xfrm>
          <a:prstGeom prst="rect">
            <a:avLst/>
          </a:prstGeom>
          <a:solidFill>
            <a:srgbClr val="A6EC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000" y="1980000"/>
            <a:ext cx="1100000" cy="40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4DD6FF"/>
                </a:solidFill>
                <a:latin typeface="JetBrains Mono"/>
              </a:rPr>
              <a:t>РЕЛАКСАЦИЯ</a:t>
            </a:r>
          </a:p>
        </p:txBody>
      </p:sp>
      <p:pic>
        <p:nvPicPr>
          <p:cNvPr id="15" name="Picture 14" descr="milp_rel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7060" y="1990000"/>
            <a:ext cx="1585880" cy="3805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80000" y="1980000"/>
            <a:ext cx="2204000" cy="40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CA5D0"/>
                </a:solidFill>
                <a:latin typeface="Inter"/>
              </a:rPr>
              <a:t>Заменяем 0/1 -&gt; отрезок [0,1]. Решается за полиномиальное время.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" y="2377500"/>
            <a:ext cx="7824000" cy="3000"/>
          </a:xfrm>
          <a:prstGeom prst="rect">
            <a:avLst/>
          </a:prstGeom>
          <a:solidFill>
            <a:srgbClr val="2C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" y="2380500"/>
            <a:ext cx="1100000" cy="40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4DD6FF"/>
                </a:solidFill>
                <a:latin typeface="JetBrains Mono"/>
              </a:rPr>
              <a:t>ГРАНИЦА</a:t>
            </a:r>
          </a:p>
        </p:txBody>
      </p:sp>
      <p:pic>
        <p:nvPicPr>
          <p:cNvPr id="19" name="Picture 18" descr="milp_b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7060" y="2390500"/>
            <a:ext cx="1585880" cy="3805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80000" y="2380500"/>
            <a:ext cx="2204000" cy="40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CA5D0"/>
                </a:solidFill>
                <a:latin typeface="Inter"/>
              </a:rPr>
              <a:t>Оптимум релаксации — нижняя граница для исходной задачи.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" y="2778000"/>
            <a:ext cx="7824000" cy="3000"/>
          </a:xfrm>
          <a:prstGeom prst="rect">
            <a:avLst/>
          </a:prstGeom>
          <a:solidFill>
            <a:srgbClr val="2C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" y="2781000"/>
            <a:ext cx="1100000" cy="40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C2A6FF"/>
                </a:solidFill>
                <a:latin typeface="JetBrains Mono"/>
              </a:rPr>
              <a:t>СВЯЗЬ</a:t>
            </a:r>
          </a:p>
        </p:txBody>
      </p:sp>
      <p:pic>
        <p:nvPicPr>
          <p:cNvPr id="23" name="Picture 22" descr="milp_l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7060" y="2791000"/>
            <a:ext cx="1585880" cy="3805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280000" y="2781000"/>
            <a:ext cx="2204000" cy="40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CA5D0"/>
                </a:solidFill>
                <a:latin typeface="Inter"/>
              </a:rPr>
              <a:t>При y=0 правая часть = 0, значит и x = 0.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" y="3178500"/>
            <a:ext cx="7824000" cy="3000"/>
          </a:xfrm>
          <a:prstGeom prst="rect">
            <a:avLst/>
          </a:prstGeom>
          <a:solidFill>
            <a:srgbClr val="2C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" y="3181500"/>
            <a:ext cx="1100000" cy="40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FFC873"/>
                </a:solidFill>
                <a:latin typeface="JetBrains Mono"/>
              </a:rPr>
              <a:t>ВЕТВЛЕНИЕ</a:t>
            </a:r>
          </a:p>
        </p:txBody>
      </p:sp>
      <p:pic>
        <p:nvPicPr>
          <p:cNvPr id="27" name="Picture 26" descr="milp_bran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27060" y="3191500"/>
            <a:ext cx="1585880" cy="3805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280000" y="3181500"/>
            <a:ext cx="2204000" cy="40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CA5D0"/>
                </a:solidFill>
                <a:latin typeface="Inter"/>
              </a:rPr>
              <a:t>Дробный ответ -&gt; две подзадачи: y=0 и y=1.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0000" y="3579000"/>
            <a:ext cx="7824000" cy="3000"/>
          </a:xfrm>
          <a:prstGeom prst="rect">
            <a:avLst/>
          </a:prstGeom>
          <a:solidFill>
            <a:srgbClr val="2C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0000" y="3582000"/>
            <a:ext cx="1100000" cy="40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FFC873"/>
                </a:solidFill>
                <a:latin typeface="JetBrains Mono"/>
              </a:rPr>
              <a:t>ОТСЕЧЕНИЕ</a:t>
            </a:r>
          </a:p>
        </p:txBody>
      </p:sp>
      <p:pic>
        <p:nvPicPr>
          <p:cNvPr id="31" name="Picture 30" descr="milp_cu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27060" y="3592000"/>
            <a:ext cx="1585880" cy="3805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280000" y="3582000"/>
            <a:ext cx="2204000" cy="40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CA5D0"/>
                </a:solidFill>
                <a:latin typeface="Inter"/>
              </a:rPr>
              <a:t>Добавляем неравенства, поднимаем нижнюю границу.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" y="3979500"/>
            <a:ext cx="7824000" cy="3000"/>
          </a:xfrm>
          <a:prstGeom prst="rect">
            <a:avLst/>
          </a:prstGeom>
          <a:solidFill>
            <a:srgbClr val="2C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" y="3982500"/>
            <a:ext cx="1100000" cy="40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FF8E99"/>
                </a:solidFill>
                <a:latin typeface="JetBrains Mono"/>
              </a:rPr>
              <a:t>ОТСЕВ</a:t>
            </a:r>
          </a:p>
        </p:txBody>
      </p:sp>
      <p:pic>
        <p:nvPicPr>
          <p:cNvPr id="35" name="Picture 34" descr="milp_pru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7060" y="3992500"/>
            <a:ext cx="1585880" cy="3805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80000" y="3982500"/>
            <a:ext cx="2204000" cy="40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CA5D0"/>
                </a:solidFill>
                <a:latin typeface="Inter"/>
              </a:rPr>
              <a:t>Граница ветви ≥ лучшего решения — пропускаем ветку.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0000" y="4380000"/>
            <a:ext cx="7824000" cy="3000"/>
          </a:xfrm>
          <a:prstGeom prst="rect">
            <a:avLst/>
          </a:prstGeom>
          <a:solidFill>
            <a:srgbClr val="2C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000" y="4383000"/>
            <a:ext cx="1100000" cy="40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A6EC90"/>
                </a:solidFill>
                <a:latin typeface="JetBrains Mono"/>
              </a:rPr>
              <a:t>СИММЕТРИЯ</a:t>
            </a:r>
          </a:p>
        </p:txBody>
      </p:sp>
      <p:pic>
        <p:nvPicPr>
          <p:cNvPr id="39" name="Picture 38" descr="milp_sy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27060" y="4393000"/>
            <a:ext cx="1585880" cy="3805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280000" y="4383000"/>
            <a:ext cx="2204000" cy="40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CA5D0"/>
                </a:solidFill>
                <a:latin typeface="Inter"/>
              </a:rPr>
              <a:t>Ноды одного пула идентичны -&gt; открываем по порядку, не перебираем перестановки.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00000" y="-900000"/>
            <a:ext cx="1800000" cy="1800000"/>
          </a:xfrm>
          <a:prstGeom prst="ellipse">
            <a:avLst/>
          </a:prstGeom>
          <a:solidFill>
            <a:srgbClr val="4DD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44000" y="4243500"/>
            <a:ext cx="1800000" cy="1800000"/>
          </a:xfrm>
          <a:prstGeom prst="ellipse">
            <a:avLst/>
          </a:prstGeom>
          <a:solidFill>
            <a:srgbClr val="C2A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0000" y="220000"/>
            <a:ext cx="8304000" cy="540000"/>
          </a:xfrm>
          <a:prstGeom prst="roundRect">
            <a:avLst>
              <a:gd name="adj" fmla="val 25925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600000" y="330000"/>
            <a:ext cx="320000" cy="320000"/>
          </a:xfrm>
          <a:prstGeom prst="diamond">
            <a:avLst/>
          </a:prstGeom>
          <a:solidFill>
            <a:srgbClr val="4D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000" y="220000"/>
            <a:ext cx="170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EF1FF"/>
                </a:solidFill>
                <a:latin typeface="Space Grotesk"/>
              </a:rPr>
              <a:t>ClusterScope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0000" y="220000"/>
            <a:ext cx="4604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9CA5D0"/>
                </a:solidFill>
                <a:latin typeface="JetBrains Mono"/>
              </a:rPr>
              <a:t>SECTION 06 · BIN-PACKING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4000" y="330000"/>
            <a:ext cx="820000" cy="320000"/>
          </a:xfrm>
          <a:prstGeom prst="roundRect">
            <a:avLst>
              <a:gd name="adj" fmla="val 25000"/>
            </a:avLst>
          </a:prstGeom>
          <a:solidFill>
            <a:srgbClr val="1C244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4000" y="330000"/>
            <a:ext cx="82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4DD6FF"/>
                </a:solidFill>
                <a:latin typeface="JetBrains Mono"/>
              </a:rPr>
              <a:t>07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000" y="960000"/>
            <a:ext cx="8304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9CA5D0"/>
                </a:solidFill>
                <a:latin typeface="JetBrains Mono"/>
              </a:rPr>
              <a:t>GREEDY HEURISTIC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000" y="1260000"/>
            <a:ext cx="8304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EEF1FF"/>
                </a:solidFill>
                <a:latin typeface="Space Grotesk"/>
              </a:rPr>
              <a:t>Что используется в проде? Bin-packing!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000" y="1860000"/>
            <a:ext cx="8304000" cy="1100000"/>
          </a:xfrm>
          <a:prstGeom prst="roundRect">
            <a:avLst>
              <a:gd name="adj" fmla="val 14545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000" y="1860000"/>
            <a:ext cx="7944000" cy="46000"/>
          </a:xfrm>
          <a:prstGeom prst="rect">
            <a:avLst/>
          </a:prstGeom>
          <a:solidFill>
            <a:srgbClr val="4D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0000" y="2020000"/>
            <a:ext cx="7744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4DD6FF"/>
                </a:solidFill>
                <a:latin typeface="JetBrains Mono"/>
              </a:rPr>
              <a:t>АЛГОРИТМ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000" y="2280000"/>
            <a:ext cx="7744000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EF1FF"/>
                </a:solidFill>
                <a:latin typeface="Inter"/>
              </a:rPr>
              <a:t>1. Сортируем поды по убыванию (ядра, память) — большие первыми.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EEF1FF"/>
                </a:solidFill>
                <a:latin typeface="Inter"/>
              </a:rPr>
              <a:t>2. Для каждого пода — лучшая открытая нода по K8s-like score.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EEF1FF"/>
                </a:solidFill>
                <a:latin typeface="Inter"/>
              </a:rPr>
              <a:t>3. Не помещается? — открываем самый дешёвый подходящий шаблон ноды.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000" y="3180000"/>
            <a:ext cx="4042000" cy="1683500"/>
          </a:xfrm>
          <a:prstGeom prst="roundRect">
            <a:avLst>
              <a:gd name="adj" fmla="val 9504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0000" y="3180000"/>
            <a:ext cx="3682000" cy="46000"/>
          </a:xfrm>
          <a:prstGeom prst="rect">
            <a:avLst/>
          </a:prstGeom>
          <a:solidFill>
            <a:srgbClr val="A6EC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00" y="3360000"/>
            <a:ext cx="3522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EEF1FF"/>
                </a:solidFill>
                <a:latin typeface="Space Grotesk"/>
              </a:rPr>
              <a:t>✓ Плюсы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000" y="3660000"/>
            <a:ext cx="3522000" cy="102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EEF1FF"/>
                </a:solidFill>
                <a:latin typeface="Inter"/>
              </a:rPr>
              <a:t>•  Близок к оптимуму на типичных нагрузках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EEF1FF"/>
                </a:solidFill>
                <a:latin typeface="Inter"/>
              </a:rPr>
              <a:t>•  Онлайн: можно запускать инкрементально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EEF1FF"/>
                </a:solidFill>
                <a:latin typeface="Inter"/>
              </a:rPr>
              <a:t>•  Простая реализация, легко отлаживать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EEF1FF"/>
                </a:solidFill>
                <a:latin typeface="Inter"/>
              </a:rPr>
              <a:t>•  Совместим с K8s scoring: LeastAlloc, ImageLocality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EEF1FF"/>
                </a:solidFill>
                <a:latin typeface="Inter"/>
              </a:rPr>
              <a:t>•  Cluster Autoscaler — это про bin-packing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82000" y="3180000"/>
            <a:ext cx="4042000" cy="1683500"/>
          </a:xfrm>
          <a:prstGeom prst="roundRect">
            <a:avLst>
              <a:gd name="adj" fmla="val 9504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62000" y="3180000"/>
            <a:ext cx="3682000" cy="46000"/>
          </a:xfrm>
          <a:prstGeom prst="rect">
            <a:avLst/>
          </a:prstGeom>
          <a:solidFill>
            <a:srgbClr val="FF8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42000" y="3360000"/>
            <a:ext cx="3522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EEF1FF"/>
                </a:solidFill>
                <a:latin typeface="Space Grotesk"/>
              </a:rPr>
              <a:t>✗ Минусы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42000" y="3660000"/>
            <a:ext cx="3522000" cy="102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EEF1FF"/>
                </a:solidFill>
                <a:latin typeface="Inter"/>
              </a:rPr>
              <a:t>•  Жадный — не видит задачу глобально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EEF1FF"/>
                </a:solidFill>
                <a:latin typeface="Inter"/>
              </a:rPr>
              <a:t>•  Результат зависит от порядка прихода подов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EEF1FF"/>
                </a:solidFill>
                <a:latin typeface="Inter"/>
              </a:rPr>
              <a:t>•  Не учитывает взаимодействие подов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EEF1FF"/>
                </a:solidFill>
                <a:latin typeface="Inter"/>
              </a:rPr>
              <a:t>•  Нет гарантии оптимальности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00000" y="-900000"/>
            <a:ext cx="1800000" cy="1800000"/>
          </a:xfrm>
          <a:prstGeom prst="ellipse">
            <a:avLst/>
          </a:prstGeom>
          <a:solidFill>
            <a:srgbClr val="4DD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44000" y="4243500"/>
            <a:ext cx="1800000" cy="1800000"/>
          </a:xfrm>
          <a:prstGeom prst="ellipse">
            <a:avLst/>
          </a:prstGeom>
          <a:solidFill>
            <a:srgbClr val="C2A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0000" y="220000"/>
            <a:ext cx="8304000" cy="540000"/>
          </a:xfrm>
          <a:prstGeom prst="roundRect">
            <a:avLst>
              <a:gd name="adj" fmla="val 25925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600000" y="330000"/>
            <a:ext cx="320000" cy="320000"/>
          </a:xfrm>
          <a:prstGeom prst="diamond">
            <a:avLst/>
          </a:prstGeom>
          <a:solidFill>
            <a:srgbClr val="4D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000" y="220000"/>
            <a:ext cx="170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EF1FF"/>
                </a:solidFill>
                <a:latin typeface="Space Grotesk"/>
              </a:rPr>
              <a:t>ClusterScope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0000" y="220000"/>
            <a:ext cx="4604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9CA5D0"/>
                </a:solidFill>
                <a:latin typeface="JetBrains Mono"/>
              </a:rPr>
              <a:t>SECTION 07 · WORKED EXAMPLE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4000" y="330000"/>
            <a:ext cx="820000" cy="320000"/>
          </a:xfrm>
          <a:prstGeom prst="roundRect">
            <a:avLst>
              <a:gd name="adj" fmla="val 25000"/>
            </a:avLst>
          </a:prstGeom>
          <a:solidFill>
            <a:srgbClr val="1C244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4000" y="330000"/>
            <a:ext cx="82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4DD6FF"/>
                </a:solidFill>
                <a:latin typeface="JetBrains Mono"/>
              </a:rPr>
              <a:t>08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000" y="960000"/>
            <a:ext cx="8304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9CA5D0"/>
                </a:solidFill>
                <a:latin typeface="JetBrains Mono"/>
              </a:rPr>
              <a:t>WORKED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000" y="1260000"/>
            <a:ext cx="8304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EEF1FF"/>
                </a:solidFill>
                <a:latin typeface="Space Grotesk"/>
              </a:rPr>
              <a:t>Пример: bin-packing vs MILP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000" y="1860000"/>
            <a:ext cx="4042000" cy="800000"/>
          </a:xfrm>
          <a:prstGeom prst="roundRect">
            <a:avLst>
              <a:gd name="adj" fmla="val 17500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0000" y="1860000"/>
            <a:ext cx="3722000" cy="36000"/>
          </a:xfrm>
          <a:prstGeom prst="rect">
            <a:avLst/>
          </a:prstGeom>
          <a:solidFill>
            <a:srgbClr val="4D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00" y="1940000"/>
            <a:ext cx="360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4DD6FF"/>
                </a:solidFill>
                <a:latin typeface="JetBrains Mono"/>
              </a:rPr>
              <a:t>ПУЛЫ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00" y="2120000"/>
            <a:ext cx="3602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EEF1FF"/>
                </a:solidFill>
                <a:latin typeface="JetBrains Mono"/>
              </a:rPr>
              <a:t>L:  50 ядер · 200 ГиБ · $2/ч · до 2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EEF1FF"/>
                </a:solidFill>
                <a:latin typeface="JetBrains Mono"/>
              </a:rPr>
              <a:t>H:  40 ядер · 400 ГиБ · $3/ч · до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82000" y="1860000"/>
            <a:ext cx="4042000" cy="800000"/>
          </a:xfrm>
          <a:prstGeom prst="roundRect">
            <a:avLst>
              <a:gd name="adj" fmla="val 17500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2000" y="1860000"/>
            <a:ext cx="3722000" cy="36000"/>
          </a:xfrm>
          <a:prstGeom prst="rect">
            <a:avLst/>
          </a:prstGeom>
          <a:solidFill>
            <a:srgbClr val="C2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02000" y="1940000"/>
            <a:ext cx="360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C2A6FF"/>
                </a:solidFill>
                <a:latin typeface="JetBrains Mono"/>
              </a:rPr>
              <a:t>ПОДЫ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02000" y="2120000"/>
            <a:ext cx="3602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EEF1FF"/>
                </a:solidFill>
                <a:latin typeface="JetBrains Mono"/>
              </a:rPr>
              <a:t>A:  30 ядер ·   0 ГиБ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EEF1FF"/>
                </a:solidFill>
                <a:latin typeface="JetBrains Mono"/>
              </a:rPr>
              <a:t>B:   4 ядра · 120 ГиБ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EEF1FF"/>
                </a:solidFill>
                <a:latin typeface="JetBrains Mono"/>
              </a:rPr>
              <a:t>C:   4 ядра · 120 ГиБ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000" y="2880000"/>
            <a:ext cx="4042000" cy="1530000"/>
          </a:xfrm>
          <a:prstGeom prst="roundRect">
            <a:avLst>
              <a:gd name="adj" fmla="val 10457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0000" y="2880000"/>
            <a:ext cx="3682000" cy="40000"/>
          </a:xfrm>
          <a:prstGeom prst="rect">
            <a:avLst/>
          </a:prstGeom>
          <a:solidFill>
            <a:srgbClr val="FF8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" y="3000000"/>
            <a:ext cx="3562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EF1FF"/>
                </a:solidFill>
                <a:latin typeface="Space Grotesk"/>
              </a:rPr>
              <a:t>Bin-packing (жадный)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0000" y="3300000"/>
            <a:ext cx="3562000" cy="10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EEF1FF"/>
                </a:solidFill>
                <a:latin typeface="Inter"/>
              </a:rPr>
              <a:t>1.  Сортируем: A(30), B(4), C(4)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EEF1FF"/>
                </a:solidFill>
                <a:latin typeface="Inter"/>
              </a:rPr>
              <a:t>2.  A -&gt; открываем L1 ($2)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EEF1FF"/>
                </a:solidFill>
                <a:latin typeface="Inter"/>
              </a:rPr>
              <a:t>3.  B -&gt; влезает в L1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EEF1FF"/>
                </a:solidFill>
                <a:latin typeface="Inter"/>
              </a:rPr>
              <a:t>4.  C -&gt; не влезает, открываем L2 ($2)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EEF1FF"/>
                </a:solidFill>
                <a:latin typeface="Inter"/>
              </a:rPr>
              <a:t>-&gt; 2 × L = $4/ч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82000" y="2880000"/>
            <a:ext cx="4042000" cy="1530000"/>
          </a:xfrm>
          <a:prstGeom prst="roundRect">
            <a:avLst>
              <a:gd name="adj" fmla="val 10457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62000" y="2880000"/>
            <a:ext cx="3682000" cy="40000"/>
          </a:xfrm>
          <a:prstGeom prst="rect">
            <a:avLst/>
          </a:prstGeom>
          <a:solidFill>
            <a:srgbClr val="A6EC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22000" y="3000000"/>
            <a:ext cx="3562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EF1FF"/>
                </a:solidFill>
                <a:latin typeface="Space Grotesk"/>
              </a:rPr>
              <a:t>MILP (ветви и границы)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22000" y="3300000"/>
            <a:ext cx="3562000" cy="10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EEF1FF"/>
                </a:solidFill>
                <a:latin typeface="Inter"/>
              </a:rPr>
              <a:t>1.  ЛП-релаксация: y_H = 0.95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EEF1FF"/>
                </a:solidFill>
                <a:latin typeface="Inter"/>
              </a:rPr>
              <a:t>2.  Ветка y_H = 1: всё на H ✓ z = $3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EEF1FF"/>
                </a:solidFill>
                <a:latin typeface="Inter"/>
              </a:rPr>
              <a:t>3.  Ветка y_H = 0: $4 — хуже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EEF1FF"/>
                </a:solidFill>
                <a:latin typeface="Inter"/>
              </a:rPr>
              <a:t>-&gt; 1 × H = $3/ч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0000" y="4630000"/>
            <a:ext cx="8304000" cy="233500"/>
          </a:xfrm>
          <a:prstGeom prst="roundRect">
            <a:avLst>
              <a:gd name="adj" fmla="val 59957"/>
            </a:avLst>
          </a:prstGeom>
          <a:solidFill>
            <a:srgbClr val="1C244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0000" y="4630000"/>
            <a:ext cx="7744000" cy="2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EF1FF"/>
                </a:solidFill>
                <a:latin typeface="Inter"/>
              </a:rPr>
              <a:t>MILP: $3/ч   vs   bin-packing: $4/ч.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00000" y="-900000"/>
            <a:ext cx="1800000" cy="1800000"/>
          </a:xfrm>
          <a:prstGeom prst="ellipse">
            <a:avLst/>
          </a:prstGeom>
          <a:solidFill>
            <a:srgbClr val="4DD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44000" y="4243500"/>
            <a:ext cx="1800000" cy="1800000"/>
          </a:xfrm>
          <a:prstGeom prst="ellipse">
            <a:avLst/>
          </a:prstGeom>
          <a:solidFill>
            <a:srgbClr val="C2A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0000" y="220000"/>
            <a:ext cx="8304000" cy="540000"/>
          </a:xfrm>
          <a:prstGeom prst="roundRect">
            <a:avLst>
              <a:gd name="adj" fmla="val 25925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600000" y="330000"/>
            <a:ext cx="320000" cy="320000"/>
          </a:xfrm>
          <a:prstGeom prst="diamond">
            <a:avLst/>
          </a:prstGeom>
          <a:solidFill>
            <a:srgbClr val="4D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000" y="220000"/>
            <a:ext cx="170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EF1FF"/>
                </a:solidFill>
                <a:latin typeface="Space Grotesk"/>
              </a:rPr>
              <a:t>ClusterScope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0000" y="220000"/>
            <a:ext cx="4604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9CA5D0"/>
                </a:solidFill>
                <a:latin typeface="JetBrains Mono"/>
              </a:rPr>
              <a:t>SECTION 08 · CONCLUSIONS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4000" y="330000"/>
            <a:ext cx="820000" cy="320000"/>
          </a:xfrm>
          <a:prstGeom prst="roundRect">
            <a:avLst>
              <a:gd name="adj" fmla="val 25000"/>
            </a:avLst>
          </a:prstGeom>
          <a:solidFill>
            <a:srgbClr val="1C244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4000" y="330000"/>
            <a:ext cx="82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4DD6FF"/>
                </a:solidFill>
                <a:latin typeface="JetBrains Mono"/>
              </a:rPr>
              <a:t>09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000" y="960000"/>
            <a:ext cx="8304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9CA5D0"/>
                </a:solidFill>
                <a:latin typeface="JetBrains Mono"/>
              </a:rPr>
              <a:t>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000" y="1260000"/>
            <a:ext cx="8304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EEF1FF"/>
                </a:solidFill>
                <a:latin typeface="Space Grotesk"/>
              </a:rPr>
              <a:t>Выводы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000" y="1860000"/>
            <a:ext cx="2621333" cy="3003500"/>
          </a:xfrm>
          <a:prstGeom prst="roundRect">
            <a:avLst>
              <a:gd name="adj" fmla="val 6103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000" y="1860000"/>
            <a:ext cx="2261333" cy="46000"/>
          </a:xfrm>
          <a:prstGeom prst="rect">
            <a:avLst/>
          </a:prstGeom>
          <a:solidFill>
            <a:srgbClr val="4D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000" y="2040000"/>
            <a:ext cx="2141333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4DD6FF"/>
                </a:solidFill>
                <a:latin typeface="JetBrains Mono"/>
              </a:rPr>
              <a:t>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000" y="2300000"/>
            <a:ext cx="2141333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EEF1FF"/>
                </a:solidFill>
                <a:latin typeface="Space Grotesk"/>
              </a:rPr>
              <a:t>Планировали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000" y="2680000"/>
            <a:ext cx="2141333" cy="200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EEF1FF"/>
                </a:solidFill>
                <a:latin typeface="Inter"/>
              </a:rPr>
              <a:t>•  Сравнить эвристику и MILP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EEF1FF"/>
                </a:solidFill>
                <a:latin typeface="Inter"/>
              </a:rPr>
              <a:t>•  Оценить выигрыш по стоимости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1333" y="1860000"/>
            <a:ext cx="2621333" cy="3003500"/>
          </a:xfrm>
          <a:prstGeom prst="roundRect">
            <a:avLst>
              <a:gd name="adj" fmla="val 6103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41333" y="1860000"/>
            <a:ext cx="2261333" cy="46000"/>
          </a:xfrm>
          <a:prstGeom prst="rect">
            <a:avLst/>
          </a:prstGeom>
          <a:solidFill>
            <a:srgbClr val="A6EC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01333" y="2040000"/>
            <a:ext cx="2141333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A6EC90"/>
                </a:solidFill>
                <a:latin typeface="JetBrains Mono"/>
              </a:rPr>
              <a:t>DONE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1333" y="2300000"/>
            <a:ext cx="2141333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EEF1FF"/>
                </a:solidFill>
                <a:latin typeface="Space Grotesk"/>
              </a:rPr>
              <a:t>Сделано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1333" y="2680000"/>
            <a:ext cx="2141333" cy="200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EEF1FF"/>
                </a:solidFill>
                <a:latin typeface="Inter"/>
              </a:rPr>
              <a:t>•  Реализованы оба подхода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EEF1FF"/>
                </a:solidFill>
                <a:latin typeface="Inter"/>
              </a:rPr>
              <a:t>•  Показана разница на примере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02666" y="1860000"/>
            <a:ext cx="2621333" cy="3003500"/>
          </a:xfrm>
          <a:prstGeom prst="roundRect">
            <a:avLst>
              <a:gd name="adj" fmla="val 6103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82666" y="1860000"/>
            <a:ext cx="2261333" cy="46000"/>
          </a:xfrm>
          <a:prstGeom prst="rect">
            <a:avLst/>
          </a:prstGeom>
          <a:solidFill>
            <a:srgbClr val="C2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2666" y="2040000"/>
            <a:ext cx="2141333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C2A6FF"/>
                </a:solidFill>
                <a:latin typeface="JetBrains Mono"/>
              </a:rPr>
              <a:t>NEXT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2666" y="2300000"/>
            <a:ext cx="2141333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EEF1FF"/>
                </a:solidFill>
                <a:latin typeface="Space Grotesk"/>
              </a:rPr>
              <a:t>Дальше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2666" y="2680000"/>
            <a:ext cx="2141333" cy="200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EEF1FF"/>
                </a:solidFill>
                <a:latin typeface="Inter"/>
              </a:rPr>
              <a:t>•  Симуляция во времени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EEF1FF"/>
                </a:solidFill>
                <a:latin typeface="Inter"/>
              </a:rPr>
              <a:t>•  Сложная постановка с новыми ограничениями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00000" y="-900000"/>
            <a:ext cx="1800000" cy="1800000"/>
          </a:xfrm>
          <a:prstGeom prst="ellipse">
            <a:avLst/>
          </a:prstGeom>
          <a:solidFill>
            <a:srgbClr val="4DD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44000" y="4243500"/>
            <a:ext cx="1800000" cy="1800000"/>
          </a:xfrm>
          <a:prstGeom prst="ellipse">
            <a:avLst/>
          </a:prstGeom>
          <a:solidFill>
            <a:srgbClr val="C2A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0000" y="220000"/>
            <a:ext cx="8304000" cy="540000"/>
          </a:xfrm>
          <a:prstGeom prst="roundRect">
            <a:avLst>
              <a:gd name="adj" fmla="val 25925"/>
            </a:avLst>
          </a:prstGeom>
          <a:solidFill>
            <a:srgbClr val="141A3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600000" y="330000"/>
            <a:ext cx="320000" cy="320000"/>
          </a:xfrm>
          <a:prstGeom prst="diamond">
            <a:avLst/>
          </a:prstGeom>
          <a:solidFill>
            <a:srgbClr val="4D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000" y="220000"/>
            <a:ext cx="170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EF1FF"/>
                </a:solidFill>
                <a:latin typeface="Space Grotesk"/>
              </a:rPr>
              <a:t>ClusterScope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0000" y="220000"/>
            <a:ext cx="4604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9CA5D0"/>
                </a:solidFill>
                <a:latin typeface="JetBrains Mono"/>
              </a:rPr>
              <a:t>OUTRO · THANK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4000" y="330000"/>
            <a:ext cx="820000" cy="320000"/>
          </a:xfrm>
          <a:prstGeom prst="roundRect">
            <a:avLst>
              <a:gd name="adj" fmla="val 25000"/>
            </a:avLst>
          </a:prstGeom>
          <a:solidFill>
            <a:srgbClr val="1C2446"/>
          </a:solidFill>
          <a:ln w="9525">
            <a:solidFill>
              <a:srgbClr val="2C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4000" y="330000"/>
            <a:ext cx="82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4DD6FF"/>
                </a:solidFill>
                <a:latin typeface="JetBrains Mono"/>
              </a:rPr>
              <a:t>10 / 10</a:t>
            </a:r>
          </a:p>
        </p:txBody>
      </p:sp>
      <p:sp>
        <p:nvSpPr>
          <p:cNvPr id="10" name="Diamond 9"/>
          <p:cNvSpPr/>
          <p:nvPr/>
        </p:nvSpPr>
        <p:spPr>
          <a:xfrm>
            <a:off x="3972000" y="1100000"/>
            <a:ext cx="1200000" cy="1200000"/>
          </a:xfrm>
          <a:prstGeom prst="diamond">
            <a:avLst/>
          </a:prstGeom>
          <a:solidFill>
            <a:srgbClr val="4D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iamond 10"/>
          <p:cNvSpPr/>
          <p:nvPr/>
        </p:nvSpPr>
        <p:spPr>
          <a:xfrm>
            <a:off x="4152000" y="1280000"/>
            <a:ext cx="840000" cy="840000"/>
          </a:xfrm>
          <a:prstGeom prst="diamond">
            <a:avLst/>
          </a:prstGeom>
          <a:solidFill>
            <a:srgbClr val="0709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332000" y="1460000"/>
            <a:ext cx="480000" cy="480000"/>
          </a:xfrm>
          <a:prstGeom prst="diamond">
            <a:avLst/>
          </a:prstGeom>
          <a:solidFill>
            <a:srgbClr val="C2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2700000"/>
            <a:ext cx="9144000" cy="7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EF1FF"/>
                </a:solidFill>
                <a:latin typeface="Space Grotesk"/>
              </a:rPr>
              <a:t>Спасибо за внимание!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3500000"/>
            <a:ext cx="914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9CA5D0"/>
                </a:solidFill>
                <a:latin typeface="Inter"/>
              </a:rPr>
              <a:t>Вопросы?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